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0"/>
  </p:notesMasterIdLst>
  <p:sldIdLst>
    <p:sldId id="510" r:id="rId2"/>
    <p:sldId id="514" r:id="rId3"/>
    <p:sldId id="261" r:id="rId4"/>
    <p:sldId id="439" r:id="rId5"/>
    <p:sldId id="444" r:id="rId6"/>
    <p:sldId id="335" r:id="rId7"/>
    <p:sldId id="256" r:id="rId8"/>
    <p:sldId id="452" r:id="rId9"/>
    <p:sldId id="513" r:id="rId10"/>
    <p:sldId id="512" r:id="rId11"/>
    <p:sldId id="454" r:id="rId12"/>
    <p:sldId id="378" r:id="rId13"/>
    <p:sldId id="344" r:id="rId14"/>
    <p:sldId id="359" r:id="rId15"/>
    <p:sldId id="515" r:id="rId16"/>
    <p:sldId id="516" r:id="rId17"/>
    <p:sldId id="262" r:id="rId18"/>
    <p:sldId id="517" r:id="rId19"/>
  </p:sldIdLst>
  <p:sldSz cx="9144000" cy="5143500" type="screen16x9"/>
  <p:notesSz cx="6858000" cy="9144000"/>
  <p:embeddedFontLst>
    <p:embeddedFont>
      <p:font typeface="Geologica" panose="020B0604020202020204" charset="0"/>
      <p:regular r:id="rId21"/>
      <p:bold r:id="rId22"/>
    </p:embeddedFont>
    <p:embeddedFont>
      <p:font typeface="Geologica Light" panose="020B0604020202020204" charset="0"/>
      <p:regular r:id="rId23"/>
      <p:bold r:id="rId24"/>
    </p:embeddedFont>
    <p:embeddedFont>
      <p:font typeface="Geologica Medium" panose="020B0604020202020204" charset="0"/>
      <p:regular r:id="rId25"/>
      <p:bold r:id="rId26"/>
    </p:embeddedFont>
    <p:embeddedFont>
      <p:font typeface="Geologica Semi Bold" panose="020B0604020202020204" charset="0"/>
      <p:regular r:id="rId27"/>
      <p:bold r:id="rId28"/>
      <p:italic r:id="rId29"/>
      <p:boldItalic r:id="rId30"/>
    </p:embeddedFont>
    <p:embeddedFont>
      <p:font typeface="Geologica SemiBold" pitchFamily="2" charset="0"/>
      <p:bold r:id="rId31"/>
    </p:embeddedFont>
    <p:embeddedFont>
      <p:font typeface="Karla" pitchFamily="2" charset="0"/>
      <p:regular r:id="rId32"/>
      <p:bold r:id="rId33"/>
    </p:embeddedFont>
    <p:embeddedFont>
      <p:font typeface="Karla Bold" charset="0"/>
      <p:bold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080">
          <p15:clr>
            <a:srgbClr val="747775"/>
          </p15:clr>
        </p15:guide>
        <p15:guide id="2" pos="5533">
          <p15:clr>
            <a:srgbClr val="747775"/>
          </p15:clr>
        </p15:guide>
        <p15:guide id="3" orient="horz" pos="170">
          <p15:clr>
            <a:srgbClr val="747775"/>
          </p15:clr>
        </p15:guide>
        <p15:guide id="4" orient="horz" pos="3070">
          <p15:clr>
            <a:srgbClr val="747775"/>
          </p15:clr>
        </p15:guide>
        <p15:guide id="5" pos="227">
          <p15:clr>
            <a:srgbClr val="747775"/>
          </p15:clr>
        </p15:guide>
        <p15:guide id="6" pos="2880">
          <p15:clr>
            <a:srgbClr val="747775"/>
          </p15:clr>
        </p15:guide>
        <p15:guide id="7" pos="680">
          <p15:clr>
            <a:srgbClr val="747775"/>
          </p15:clr>
        </p15:guide>
        <p15:guide id="8" pos="2653">
          <p15:clr>
            <a:srgbClr val="747775"/>
          </p15:clr>
        </p15:guide>
        <p15:guide id="9" orient="horz" pos="965">
          <p15:clr>
            <a:srgbClr val="747775"/>
          </p15:clr>
        </p15:guide>
        <p15:guide id="10" orient="horz" pos="162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75"/>
    <p:restoredTop sz="94658"/>
  </p:normalViewPr>
  <p:slideViewPr>
    <p:cSldViewPr snapToGrid="0">
      <p:cViewPr varScale="1">
        <p:scale>
          <a:sx n="120" d="100"/>
          <a:sy n="120" d="100"/>
        </p:scale>
        <p:origin x="900" y="76"/>
      </p:cViewPr>
      <p:guideLst>
        <p:guide pos="5080"/>
        <p:guide pos="5533"/>
        <p:guide orient="horz" pos="170"/>
        <p:guide orient="horz" pos="3070"/>
        <p:guide pos="227"/>
        <p:guide pos="2880"/>
        <p:guide pos="680"/>
        <p:guide pos="2653"/>
        <p:guide orient="horz" pos="965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21" Type="http://schemas.openxmlformats.org/officeDocument/2006/relationships/font" Target="fonts/font1.fntdata"/><Relationship Id="rId34" Type="http://schemas.openxmlformats.org/officeDocument/2006/relationships/font" Target="fonts/font1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font" Target="fonts/font13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id="{7497352F-4E30-AE00-4A10-9340BE221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9e38bc3cee_0_1:notes">
            <a:extLst>
              <a:ext uri="{FF2B5EF4-FFF2-40B4-BE49-F238E27FC236}">
                <a16:creationId xmlns:a16="http://schemas.microsoft.com/office/drawing/2014/main" id="{8E3D2AC8-271C-8EF8-318B-BB5E9121D5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9e38bc3cee_0_1:notes">
            <a:extLst>
              <a:ext uri="{FF2B5EF4-FFF2-40B4-BE49-F238E27FC236}">
                <a16:creationId xmlns:a16="http://schemas.microsoft.com/office/drawing/2014/main" id="{A6330408-E7A3-D3FB-BC0B-378287C189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614170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6666C-EAF0-7BD0-57AA-3564557F1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7A2111-347C-FEBB-DFDF-86D0239107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BE9259-039F-1EB5-55E8-5E355DA72B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F6C0D9-EE86-14E7-6599-CA1D4861B3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6612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0CDD1-1229-3621-67F1-EEB3083FF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C3B427-C58C-1916-48D5-7881E0CE78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EC918B-6E54-BEF1-FCE2-97AD784499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0AD2FE-2B4C-B292-E80D-F9208BA3F7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7692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78498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2CD3C42-3D02-C590-3A7D-D4FFE6F58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D7EC483-03BB-761C-D21D-69FF4BA94B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21B91D15-965F-9226-4E84-B961F57E3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33576-D00D-4CF1-841E-9D085B8CC14A}" type="datetimeFigureOut">
              <a:rPr lang="pl-PL" smtClean="0"/>
              <a:t>6.08.2026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8161FCBD-4769-4CBF-6A25-4E53D777F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8A9DAAA9-E562-0144-4F0C-6C80BF4EF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1CD71-6E2F-4AB3-B3DD-360C297AD65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7420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D7C3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3ED"/>
          </a:solidFill>
          <a:ln/>
        </p:spPr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19189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47220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D7C3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3ED"/>
          </a:solidFill>
          <a:ln/>
        </p:spPr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4136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D7C3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3ED"/>
          </a:solidFill>
          <a:ln/>
        </p:spPr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488696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D7C3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3ED"/>
          </a:solidFill>
          <a:ln/>
        </p:spPr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968991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23482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BF3ED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eologica"/>
              <a:buNone/>
              <a:defRPr sz="2800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eologica Light"/>
              <a:buChar char="●"/>
              <a:defRPr sz="1800">
                <a:solidFill>
                  <a:schemeClr val="dk2"/>
                </a:solidFill>
                <a:latin typeface="Geologica Light"/>
                <a:ea typeface="Geologica Light"/>
                <a:cs typeface="Geologica Light"/>
                <a:sym typeface="Geologica Ligh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eologica Light"/>
              <a:buChar char="○"/>
              <a:defRPr>
                <a:solidFill>
                  <a:schemeClr val="dk2"/>
                </a:solidFill>
                <a:latin typeface="Geologica Light"/>
                <a:ea typeface="Geologica Light"/>
                <a:cs typeface="Geologica Light"/>
                <a:sym typeface="Geologica Ligh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eologica Light"/>
              <a:buChar char="■"/>
              <a:defRPr>
                <a:solidFill>
                  <a:schemeClr val="dk2"/>
                </a:solidFill>
                <a:latin typeface="Geologica Light"/>
                <a:ea typeface="Geologica Light"/>
                <a:cs typeface="Geologica Light"/>
                <a:sym typeface="Geologica Ligh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eologica Light"/>
              <a:buChar char="●"/>
              <a:defRPr>
                <a:solidFill>
                  <a:schemeClr val="dk2"/>
                </a:solidFill>
                <a:latin typeface="Geologica Light"/>
                <a:ea typeface="Geologica Light"/>
                <a:cs typeface="Geologica Light"/>
                <a:sym typeface="Geologica Light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eologica Light"/>
              <a:buChar char="○"/>
              <a:defRPr>
                <a:solidFill>
                  <a:schemeClr val="dk2"/>
                </a:solidFill>
                <a:latin typeface="Geologica Light"/>
                <a:ea typeface="Geologica Light"/>
                <a:cs typeface="Geologica Light"/>
                <a:sym typeface="Geologica Light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eologica Light"/>
              <a:buChar char="■"/>
              <a:defRPr>
                <a:solidFill>
                  <a:schemeClr val="dk2"/>
                </a:solidFill>
                <a:latin typeface="Geologica Light"/>
                <a:ea typeface="Geologica Light"/>
                <a:cs typeface="Geologica Light"/>
                <a:sym typeface="Geologica Light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eologica Light"/>
              <a:buChar char="●"/>
              <a:defRPr>
                <a:solidFill>
                  <a:schemeClr val="dk2"/>
                </a:solidFill>
                <a:latin typeface="Geologica Light"/>
                <a:ea typeface="Geologica Light"/>
                <a:cs typeface="Geologica Light"/>
                <a:sym typeface="Geologica Light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eologica Light"/>
              <a:buChar char="○"/>
              <a:defRPr>
                <a:solidFill>
                  <a:schemeClr val="dk2"/>
                </a:solidFill>
                <a:latin typeface="Geologica Light"/>
                <a:ea typeface="Geologica Light"/>
                <a:cs typeface="Geologica Light"/>
                <a:sym typeface="Geologica Light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eologica Light"/>
              <a:buChar char="■"/>
              <a:defRPr>
                <a:solidFill>
                  <a:schemeClr val="dk2"/>
                </a:solidFill>
                <a:latin typeface="Geologica Light"/>
                <a:ea typeface="Geologica Light"/>
                <a:cs typeface="Geologica Light"/>
                <a:sym typeface="Geologica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3" r:id="rId3"/>
    <p:sldLayoutId id="2147483656" r:id="rId4"/>
    <p:sldLayoutId id="2147483657" r:id="rId5"/>
    <p:sldLayoutId id="2147483681" r:id="rId6"/>
    <p:sldLayoutId id="2147483682" r:id="rId7"/>
    <p:sldLayoutId id="2147483684" r:id="rId8"/>
    <p:sldLayoutId id="2147483685" r:id="rId9"/>
    <p:sldLayoutId id="2147483686" r:id="rId10"/>
    <p:sldLayoutId id="2147483687" r:id="rId11"/>
    <p:sldLayoutId id="2147483688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svg"/><Relationship Id="rId7" Type="http://schemas.openxmlformats.org/officeDocument/2006/relationships/image" Target="../media/image21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svg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jp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>
            <a:extLst>
              <a:ext uri="{FF2B5EF4-FFF2-40B4-BE49-F238E27FC236}">
                <a16:creationId xmlns:a16="http://schemas.microsoft.com/office/drawing/2014/main" id="{8358FC5E-BD6B-93EC-4192-3A316528C3F1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728728" y="407238"/>
            <a:ext cx="7686544" cy="130982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lvl="0"/>
            <a:r>
              <a:rPr lang="en-GB" sz="3600" dirty="0" err="1">
                <a:solidFill>
                  <a:srgbClr val="424237"/>
                </a:solidFill>
                <a:latin typeface="Geologica Medium"/>
                <a:ea typeface="Geologica Medium"/>
                <a:cs typeface="Geologica Medium"/>
                <a:sym typeface="Geologica Medium"/>
              </a:rPr>
              <a:t>Kompetencje</a:t>
            </a:r>
            <a:r>
              <a:rPr lang="en-GB" sz="3600" dirty="0">
                <a:solidFill>
                  <a:srgbClr val="424237"/>
                </a:solidFill>
                <a:latin typeface="Geologica Medium"/>
                <a:ea typeface="Geologica Medium"/>
                <a:cs typeface="Geologica Medium"/>
                <a:sym typeface="Geologica Medium"/>
              </a:rPr>
              <a:t> </a:t>
            </a:r>
            <a:r>
              <a:rPr lang="en-GB" sz="3600" dirty="0" err="1">
                <a:solidFill>
                  <a:srgbClr val="424237"/>
                </a:solidFill>
                <a:latin typeface="Geologica Medium"/>
                <a:ea typeface="Geologica Medium"/>
                <a:cs typeface="Geologica Medium"/>
                <a:sym typeface="Geologica Medium"/>
              </a:rPr>
              <a:t>cyfrowe</a:t>
            </a:r>
            <a:r>
              <a:rPr lang="en-GB" sz="3600" dirty="0">
                <a:solidFill>
                  <a:srgbClr val="424237"/>
                </a:solidFill>
                <a:latin typeface="Geologica Medium"/>
                <a:ea typeface="Geologica Medium"/>
                <a:cs typeface="Geologica Medium"/>
                <a:sym typeface="Geologica Medium"/>
              </a:rPr>
              <a:t> </a:t>
            </a:r>
            <a:r>
              <a:rPr lang="en-GB" sz="3600" dirty="0" err="1">
                <a:solidFill>
                  <a:srgbClr val="424237"/>
                </a:solidFill>
                <a:latin typeface="Geologica Medium"/>
                <a:ea typeface="Geologica Medium"/>
                <a:cs typeface="Geologica Medium"/>
                <a:sym typeface="Geologica Medium"/>
              </a:rPr>
              <a:t>i</a:t>
            </a:r>
            <a:r>
              <a:rPr lang="en-GB" sz="3600" dirty="0">
                <a:solidFill>
                  <a:srgbClr val="424237"/>
                </a:solidFill>
                <a:latin typeface="Geologica Medium"/>
                <a:ea typeface="Geologica Medium"/>
                <a:cs typeface="Geologica Medium"/>
                <a:sym typeface="Geologica Medium"/>
              </a:rPr>
              <a:t> </a:t>
            </a:r>
            <a:r>
              <a:rPr lang="en-GB" sz="3600" dirty="0" err="1">
                <a:solidFill>
                  <a:srgbClr val="424237"/>
                </a:solidFill>
                <a:latin typeface="Geologica Medium"/>
                <a:ea typeface="Geologica Medium"/>
                <a:cs typeface="Geologica Medium"/>
                <a:sym typeface="Geologica Medium"/>
              </a:rPr>
              <a:t>sztuczna</a:t>
            </a:r>
            <a:r>
              <a:rPr lang="en-GB" sz="3600" dirty="0">
                <a:solidFill>
                  <a:srgbClr val="424237"/>
                </a:solidFill>
                <a:latin typeface="Geologica Medium"/>
                <a:ea typeface="Geologica Medium"/>
                <a:cs typeface="Geologica Medium"/>
                <a:sym typeface="Geologica Medium"/>
              </a:rPr>
              <a:t> </a:t>
            </a:r>
            <a:r>
              <a:rPr lang="en-GB" sz="3600" dirty="0" err="1">
                <a:solidFill>
                  <a:srgbClr val="424237"/>
                </a:solidFill>
                <a:latin typeface="Geologica Medium"/>
                <a:ea typeface="Geologica Medium"/>
                <a:cs typeface="Geologica Medium"/>
                <a:sym typeface="Geologica Medium"/>
              </a:rPr>
              <a:t>inteligencja</a:t>
            </a:r>
            <a:r>
              <a:rPr lang="en-GB" sz="3600" dirty="0">
                <a:solidFill>
                  <a:srgbClr val="424237"/>
                </a:solidFill>
                <a:latin typeface="Geologica Medium"/>
                <a:ea typeface="Geologica Medium"/>
                <a:cs typeface="Geologica Medium"/>
                <a:sym typeface="Geologica Medium"/>
              </a:rPr>
              <a:t> </a:t>
            </a:r>
            <a:r>
              <a:rPr lang="en-GB" sz="3600" dirty="0" err="1">
                <a:solidFill>
                  <a:srgbClr val="424237"/>
                </a:solidFill>
                <a:latin typeface="Geologica Medium"/>
                <a:ea typeface="Geologica Medium"/>
                <a:cs typeface="Geologica Medium"/>
                <a:sym typeface="Geologica Medium"/>
              </a:rPr>
              <a:t>dla</a:t>
            </a:r>
            <a:r>
              <a:rPr lang="en-GB" sz="3600" dirty="0">
                <a:solidFill>
                  <a:srgbClr val="424237"/>
                </a:solidFill>
                <a:latin typeface="Geologica Medium"/>
                <a:ea typeface="Geologica Medium"/>
                <a:cs typeface="Geologica Medium"/>
                <a:sym typeface="Geologica Medium"/>
              </a:rPr>
              <a:t> </a:t>
            </a:r>
            <a:r>
              <a:rPr lang="en-GB" sz="3600" dirty="0" err="1">
                <a:solidFill>
                  <a:srgbClr val="424237"/>
                </a:solidFill>
                <a:latin typeface="Geologica Medium"/>
                <a:ea typeface="Geologica Medium"/>
                <a:cs typeface="Geologica Medium"/>
                <a:sym typeface="Geologica Medium"/>
              </a:rPr>
              <a:t>wolontariuszy</a:t>
            </a:r>
            <a:endParaRPr sz="3600" dirty="0">
              <a:solidFill>
                <a:srgbClr val="424237"/>
              </a:solidFill>
              <a:latin typeface="Geologica Medium"/>
              <a:ea typeface="Geologica Medium"/>
              <a:cs typeface="Geologica Medium"/>
              <a:sym typeface="Geologica Medium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889945" y="2140863"/>
            <a:ext cx="694944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1" i="0" dirty="0" err="1">
                <a:solidFill>
                  <a:srgbClr val="F66953"/>
                </a:solidFill>
                <a:latin typeface="Geologica Medium"/>
              </a:rPr>
              <a:t>Szkolenie</a:t>
            </a:r>
            <a:r>
              <a:rPr sz="2800" b="1" i="0" dirty="0">
                <a:solidFill>
                  <a:srgbClr val="F66953"/>
                </a:solidFill>
                <a:latin typeface="Geologica Medium"/>
              </a:rPr>
              <a:t> – </a:t>
            </a:r>
            <a:r>
              <a:rPr sz="2800" b="1" i="0" dirty="0" err="1">
                <a:solidFill>
                  <a:srgbClr val="F66953"/>
                </a:solidFill>
                <a:latin typeface="Geologica Medium"/>
              </a:rPr>
              <a:t>Dzień</a:t>
            </a:r>
            <a:r>
              <a:rPr sz="2800" b="1" i="0" dirty="0">
                <a:solidFill>
                  <a:srgbClr val="F66953"/>
                </a:solidFill>
                <a:latin typeface="Geologica Medium"/>
              </a:rPr>
              <a:t> </a:t>
            </a:r>
            <a:r>
              <a:rPr lang="en-US" sz="2800" b="1" i="0" dirty="0">
                <a:solidFill>
                  <a:srgbClr val="F66953"/>
                </a:solidFill>
                <a:latin typeface="Geologica Medium"/>
              </a:rPr>
              <a:t>2</a:t>
            </a:r>
            <a:r>
              <a:rPr sz="2800" b="1" i="0" dirty="0">
                <a:solidFill>
                  <a:srgbClr val="F66953"/>
                </a:solidFill>
                <a:latin typeface="Geologica Medium"/>
              </a:rPr>
              <a:t>  ·  </a:t>
            </a:r>
            <a:r>
              <a:rPr lang="en-US" sz="2800" b="1" i="0" dirty="0">
                <a:solidFill>
                  <a:srgbClr val="F66953"/>
                </a:solidFill>
                <a:latin typeface="Geologica Medium"/>
              </a:rPr>
              <a:t>8</a:t>
            </a:r>
            <a:r>
              <a:rPr sz="2800" b="1" i="0" dirty="0">
                <a:solidFill>
                  <a:srgbClr val="F66953"/>
                </a:solidFill>
                <a:latin typeface="Geologica Medium"/>
              </a:rPr>
              <a:t> </a:t>
            </a:r>
            <a:r>
              <a:rPr lang="en-US" sz="2800" b="1" i="0" dirty="0" err="1">
                <a:solidFill>
                  <a:srgbClr val="F66953"/>
                </a:solidFill>
                <a:latin typeface="Geologica Medium"/>
              </a:rPr>
              <a:t>sierpnia</a:t>
            </a:r>
            <a:r>
              <a:rPr sz="2800" b="1" i="0" dirty="0">
                <a:solidFill>
                  <a:srgbClr val="F66953"/>
                </a:solidFill>
                <a:latin typeface="Geologica Medium"/>
              </a:rPr>
              <a:t> 2026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28728" y="2985819"/>
            <a:ext cx="7499143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 dirty="0">
                <a:solidFill>
                  <a:srgbClr val="6E6E62"/>
                </a:solidFill>
                <a:latin typeface="Geologica"/>
              </a:rPr>
              <a:t>Program: </a:t>
            </a:r>
            <a:r>
              <a:rPr lang="en-US" sz="1800" dirty="0" err="1">
                <a:solidFill>
                  <a:srgbClr val="6E6E62"/>
                </a:solidFill>
                <a:latin typeface="Geologica"/>
              </a:rPr>
              <a:t>Narzędzia</a:t>
            </a:r>
            <a:r>
              <a:rPr lang="pl-PL" sz="1800" dirty="0">
                <a:solidFill>
                  <a:srgbClr val="6E6E62"/>
                </a:solidFill>
                <a:latin typeface="Geologica"/>
              </a:rPr>
              <a:t>, </a:t>
            </a:r>
            <a:r>
              <a:rPr lang="en-US" sz="1800" dirty="0" err="1">
                <a:solidFill>
                  <a:srgbClr val="6E6E62"/>
                </a:solidFill>
                <a:latin typeface="Geologica"/>
              </a:rPr>
              <a:t>Regulacje</a:t>
            </a:r>
            <a:r>
              <a:rPr lang="pl-PL" sz="1800" dirty="0">
                <a:solidFill>
                  <a:srgbClr val="6E6E62"/>
                </a:solidFill>
                <a:latin typeface="Geologica"/>
              </a:rPr>
              <a:t>, Bezpieczeństwo &amp; Infrastruktura AI </a:t>
            </a:r>
            <a:endParaRPr sz="1800" b="0" i="0" dirty="0">
              <a:solidFill>
                <a:srgbClr val="6E6E62"/>
              </a:solidFill>
              <a:latin typeface="Geologica"/>
            </a:endParaRPr>
          </a:p>
        </p:txBody>
      </p:sp>
      <p:pic>
        <p:nvPicPr>
          <p:cNvPr id="57" name="Picture 56" descr="image00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773729"/>
            <a:ext cx="1802219" cy="369771"/>
          </a:xfrm>
          <a:prstGeom prst="rect">
            <a:avLst/>
          </a:prstGeom>
        </p:spPr>
      </p:pic>
      <p:pic>
        <p:nvPicPr>
          <p:cNvPr id="58" name="Picture 57" descr="logotypty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5986" y="4808574"/>
            <a:ext cx="3448014" cy="35300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6593" y="354434"/>
            <a:ext cx="8151763" cy="284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5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Harmonogram szkolenia: Podróż po AI i kompetencjach cyfrowych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4567238" y="974378"/>
            <a:ext cx="9525" cy="3814688"/>
          </a:xfrm>
          <a:prstGeom prst="roundRect">
            <a:avLst>
              <a:gd name="adj" fmla="val 50000"/>
            </a:avLst>
          </a:prstGeom>
          <a:solidFill>
            <a:srgbClr val="E2BBB5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5" name="Shape 3"/>
          <p:cNvSpPr/>
          <p:nvPr/>
        </p:nvSpPr>
        <p:spPr>
          <a:xfrm>
            <a:off x="4308277" y="1333946"/>
            <a:ext cx="273248" cy="9525"/>
          </a:xfrm>
          <a:prstGeom prst="roundRect">
            <a:avLst>
              <a:gd name="adj" fmla="val 50000"/>
            </a:avLst>
          </a:prstGeom>
          <a:solidFill>
            <a:srgbClr val="E2BBB5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6" name="Shape 4"/>
          <p:cNvSpPr/>
          <p:nvPr/>
        </p:nvSpPr>
        <p:spPr>
          <a:xfrm>
            <a:off x="4537844" y="1304553"/>
            <a:ext cx="68312" cy="68312"/>
          </a:xfrm>
          <a:prstGeom prst="ellipse">
            <a:avLst/>
          </a:prstGeom>
          <a:solidFill>
            <a:srgbClr val="F66A53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7" name="Shape 5"/>
          <p:cNvSpPr/>
          <p:nvPr/>
        </p:nvSpPr>
        <p:spPr>
          <a:xfrm>
            <a:off x="496119" y="974378"/>
            <a:ext cx="3802633" cy="728737"/>
          </a:xfrm>
          <a:prstGeom prst="roundRect">
            <a:avLst>
              <a:gd name="adj" fmla="val 5250"/>
            </a:avLst>
          </a:prstGeom>
          <a:solidFill>
            <a:srgbClr val="FCD5CF"/>
          </a:solidFill>
          <a:ln w="4763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" name="Text 6"/>
          <p:cNvSpPr/>
          <p:nvPr/>
        </p:nvSpPr>
        <p:spPr>
          <a:xfrm>
            <a:off x="591964" y="1070223"/>
            <a:ext cx="3610942" cy="142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Dzień 1 · 25.07.2026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91964" y="1252612"/>
            <a:ext cx="3610942" cy="252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1600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Podstawy + AI Entry</a:t>
            </a:r>
            <a:endParaRPr lang="en-US" sz="700" dirty="0"/>
          </a:p>
          <a:p>
            <a:pPr marL="0" indent="0" algn="r">
              <a:lnSpc>
                <a:spcPct val="116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Wprowadzenie do technologii i AI.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4562475" y="1832074"/>
            <a:ext cx="273248" cy="9525"/>
          </a:xfrm>
          <a:prstGeom prst="roundRect">
            <a:avLst>
              <a:gd name="adj" fmla="val 50000"/>
            </a:avLst>
          </a:prstGeom>
          <a:solidFill>
            <a:srgbClr val="E2BBB5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1" name="Shape 9"/>
          <p:cNvSpPr/>
          <p:nvPr/>
        </p:nvSpPr>
        <p:spPr>
          <a:xfrm>
            <a:off x="4537844" y="1802681"/>
            <a:ext cx="68312" cy="68312"/>
          </a:xfrm>
          <a:prstGeom prst="ellipse">
            <a:avLst/>
          </a:prstGeom>
          <a:solidFill>
            <a:srgbClr val="F66A53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2" name="Shape 10"/>
          <p:cNvSpPr/>
          <p:nvPr/>
        </p:nvSpPr>
        <p:spPr>
          <a:xfrm>
            <a:off x="4845248" y="1472505"/>
            <a:ext cx="3802633" cy="728737"/>
          </a:xfrm>
          <a:prstGeom prst="roundRect">
            <a:avLst>
              <a:gd name="adj" fmla="val 5250"/>
            </a:avLst>
          </a:prstGeom>
          <a:solidFill>
            <a:srgbClr val="FCD5CF"/>
          </a:solidFill>
          <a:ln w="4763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" name="Text 11"/>
          <p:cNvSpPr/>
          <p:nvPr/>
        </p:nvSpPr>
        <p:spPr>
          <a:xfrm>
            <a:off x="4941094" y="1568351"/>
            <a:ext cx="3610942" cy="142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Dzień 2 · 01.08.2026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941094" y="1750740"/>
            <a:ext cx="3610942" cy="252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Regulacje AI, Bezpieczeństwo AI, Narzędzia AI</a:t>
            </a:r>
            <a:endParaRPr lang="en-US" sz="70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Prawo, bezpieczeństwo i narzędzia AI.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4308277" y="2263304"/>
            <a:ext cx="273248" cy="9525"/>
          </a:xfrm>
          <a:prstGeom prst="roundRect">
            <a:avLst>
              <a:gd name="adj" fmla="val 50000"/>
            </a:avLst>
          </a:prstGeom>
          <a:solidFill>
            <a:srgbClr val="E2BBB5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6" name="Shape 14"/>
          <p:cNvSpPr/>
          <p:nvPr/>
        </p:nvSpPr>
        <p:spPr>
          <a:xfrm>
            <a:off x="4537844" y="2233910"/>
            <a:ext cx="68312" cy="68312"/>
          </a:xfrm>
          <a:prstGeom prst="ellipse">
            <a:avLst/>
          </a:prstGeom>
          <a:solidFill>
            <a:srgbClr val="F66A53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7" name="Shape 15"/>
          <p:cNvSpPr/>
          <p:nvPr/>
        </p:nvSpPr>
        <p:spPr>
          <a:xfrm>
            <a:off x="496119" y="1903735"/>
            <a:ext cx="3802633" cy="728737"/>
          </a:xfrm>
          <a:prstGeom prst="roundRect">
            <a:avLst>
              <a:gd name="adj" fmla="val 5250"/>
            </a:avLst>
          </a:prstGeom>
          <a:solidFill>
            <a:srgbClr val="FCD5CF"/>
          </a:solidFill>
          <a:ln w="4763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8" name="Text 16"/>
          <p:cNvSpPr/>
          <p:nvPr/>
        </p:nvSpPr>
        <p:spPr>
          <a:xfrm>
            <a:off x="591964" y="1999580"/>
            <a:ext cx="3610942" cy="142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Dzień 3 · 12.09.2026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91964" y="2181969"/>
            <a:ext cx="3610942" cy="252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1600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Grafika AI z Wystąpienia Publiczne</a:t>
            </a:r>
            <a:endParaRPr lang="en-US" sz="700" dirty="0"/>
          </a:p>
          <a:p>
            <a:pPr marL="0" indent="0" algn="r">
              <a:lnSpc>
                <a:spcPct val="116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AI w wizualizacjach i prezentacjach.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4562475" y="2694608"/>
            <a:ext cx="273248" cy="9525"/>
          </a:xfrm>
          <a:prstGeom prst="roundRect">
            <a:avLst>
              <a:gd name="adj" fmla="val 50000"/>
            </a:avLst>
          </a:prstGeom>
          <a:solidFill>
            <a:srgbClr val="E2BBB5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21" name="Shape 19"/>
          <p:cNvSpPr/>
          <p:nvPr/>
        </p:nvSpPr>
        <p:spPr>
          <a:xfrm>
            <a:off x="4537844" y="2665214"/>
            <a:ext cx="68312" cy="68312"/>
          </a:xfrm>
          <a:prstGeom prst="ellipse">
            <a:avLst/>
          </a:prstGeom>
          <a:solidFill>
            <a:srgbClr val="F66A53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22" name="Shape 20"/>
          <p:cNvSpPr/>
          <p:nvPr/>
        </p:nvSpPr>
        <p:spPr>
          <a:xfrm>
            <a:off x="4845248" y="2335039"/>
            <a:ext cx="3802633" cy="728737"/>
          </a:xfrm>
          <a:prstGeom prst="roundRect">
            <a:avLst>
              <a:gd name="adj" fmla="val 5250"/>
            </a:avLst>
          </a:prstGeom>
          <a:solidFill>
            <a:srgbClr val="FCD5CF"/>
          </a:solidFill>
          <a:ln w="4763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3" name="Text 21"/>
          <p:cNvSpPr/>
          <p:nvPr/>
        </p:nvSpPr>
        <p:spPr>
          <a:xfrm>
            <a:off x="4941094" y="2430884"/>
            <a:ext cx="3610942" cy="142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Dzień 4 · 19.09.2026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941094" y="2613273"/>
            <a:ext cx="3610942" cy="252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Dźwięk, Filmy, Montaż z AI. Podstawianie Własnego Głosu AI</a:t>
            </a:r>
            <a:endParaRPr lang="en-US" sz="70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AI w multimediach i głosie.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4308277" y="3125912"/>
            <a:ext cx="273248" cy="9525"/>
          </a:xfrm>
          <a:prstGeom prst="roundRect">
            <a:avLst>
              <a:gd name="adj" fmla="val 50000"/>
            </a:avLst>
          </a:prstGeom>
          <a:solidFill>
            <a:srgbClr val="E2BBB5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26" name="Shape 24"/>
          <p:cNvSpPr/>
          <p:nvPr/>
        </p:nvSpPr>
        <p:spPr>
          <a:xfrm>
            <a:off x="4537844" y="3096518"/>
            <a:ext cx="68312" cy="68312"/>
          </a:xfrm>
          <a:prstGeom prst="ellipse">
            <a:avLst/>
          </a:prstGeom>
          <a:solidFill>
            <a:srgbClr val="F66A53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27" name="Shape 25"/>
          <p:cNvSpPr/>
          <p:nvPr/>
        </p:nvSpPr>
        <p:spPr>
          <a:xfrm>
            <a:off x="496119" y="2766343"/>
            <a:ext cx="3802633" cy="728737"/>
          </a:xfrm>
          <a:prstGeom prst="roundRect">
            <a:avLst>
              <a:gd name="adj" fmla="val 5250"/>
            </a:avLst>
          </a:prstGeom>
          <a:solidFill>
            <a:srgbClr val="FCD5CF"/>
          </a:solidFill>
          <a:ln w="4763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8" name="Text 26"/>
          <p:cNvSpPr/>
          <p:nvPr/>
        </p:nvSpPr>
        <p:spPr>
          <a:xfrm>
            <a:off x="591964" y="2862188"/>
            <a:ext cx="3610942" cy="142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Dzień 5 · 26.09.2026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91964" y="3044577"/>
            <a:ext cx="3610942" cy="252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1600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Podstawy Programowania Python, HTML, SQL, Hostingu</a:t>
            </a:r>
            <a:endParaRPr lang="en-US" sz="700" dirty="0"/>
          </a:p>
          <a:p>
            <a:pPr marL="0" indent="0" algn="r">
              <a:lnSpc>
                <a:spcPct val="116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Języki programowania i internet.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4562475" y="3557215"/>
            <a:ext cx="273248" cy="9525"/>
          </a:xfrm>
          <a:prstGeom prst="roundRect">
            <a:avLst>
              <a:gd name="adj" fmla="val 50000"/>
            </a:avLst>
          </a:prstGeom>
          <a:solidFill>
            <a:srgbClr val="E2BBB5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1" name="Shape 29"/>
          <p:cNvSpPr/>
          <p:nvPr/>
        </p:nvSpPr>
        <p:spPr>
          <a:xfrm>
            <a:off x="4537844" y="3527822"/>
            <a:ext cx="68312" cy="68312"/>
          </a:xfrm>
          <a:prstGeom prst="ellipse">
            <a:avLst/>
          </a:prstGeom>
          <a:solidFill>
            <a:srgbClr val="F66A53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2" name="Shape 30"/>
          <p:cNvSpPr/>
          <p:nvPr/>
        </p:nvSpPr>
        <p:spPr>
          <a:xfrm>
            <a:off x="4845248" y="3197647"/>
            <a:ext cx="3802633" cy="728737"/>
          </a:xfrm>
          <a:prstGeom prst="roundRect">
            <a:avLst>
              <a:gd name="adj" fmla="val 5250"/>
            </a:avLst>
          </a:prstGeom>
          <a:solidFill>
            <a:srgbClr val="FCD5CF"/>
          </a:solidFill>
          <a:ln w="4763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3" name="Text 31"/>
          <p:cNvSpPr/>
          <p:nvPr/>
        </p:nvSpPr>
        <p:spPr>
          <a:xfrm>
            <a:off x="4941094" y="3293492"/>
            <a:ext cx="3610942" cy="142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Dzień 6 · 17.10.2026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941094" y="3475881"/>
            <a:ext cx="3610942" cy="252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Systemy AI, Agenci z n8n, RAG z n8n</a:t>
            </a:r>
            <a:endParaRPr lang="en-US" sz="70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Zaawansowane systemy AI i automatyzacja.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4308277" y="3988519"/>
            <a:ext cx="273248" cy="9525"/>
          </a:xfrm>
          <a:prstGeom prst="roundRect">
            <a:avLst>
              <a:gd name="adj" fmla="val 50000"/>
            </a:avLst>
          </a:prstGeom>
          <a:solidFill>
            <a:srgbClr val="E2BBB5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6" name="Shape 34"/>
          <p:cNvSpPr/>
          <p:nvPr/>
        </p:nvSpPr>
        <p:spPr>
          <a:xfrm>
            <a:off x="4537844" y="3959126"/>
            <a:ext cx="68312" cy="68312"/>
          </a:xfrm>
          <a:prstGeom prst="ellipse">
            <a:avLst/>
          </a:prstGeom>
          <a:solidFill>
            <a:srgbClr val="F66A53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7" name="Shape 35"/>
          <p:cNvSpPr/>
          <p:nvPr/>
        </p:nvSpPr>
        <p:spPr>
          <a:xfrm>
            <a:off x="496119" y="3628951"/>
            <a:ext cx="3802633" cy="728737"/>
          </a:xfrm>
          <a:prstGeom prst="roundRect">
            <a:avLst>
              <a:gd name="adj" fmla="val 5250"/>
            </a:avLst>
          </a:prstGeom>
          <a:solidFill>
            <a:srgbClr val="FCD5CF"/>
          </a:solidFill>
          <a:ln w="4763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8" name="Text 36"/>
          <p:cNvSpPr/>
          <p:nvPr/>
        </p:nvSpPr>
        <p:spPr>
          <a:xfrm>
            <a:off x="591964" y="3724796"/>
            <a:ext cx="3610942" cy="142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Dzień 7 · 24.10.2026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91964" y="3907185"/>
            <a:ext cx="3610942" cy="252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1600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Baza Wiedzy w Obsłudze, Formuła MD, Warsztaty z Bielik AI</a:t>
            </a:r>
            <a:endParaRPr lang="en-US" sz="700" dirty="0"/>
          </a:p>
          <a:p>
            <a:pPr marL="0" indent="0" algn="r">
              <a:lnSpc>
                <a:spcPct val="116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Zarządzanie wiedzą i Bielik AI.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4562475" y="4419823"/>
            <a:ext cx="273248" cy="9525"/>
          </a:xfrm>
          <a:prstGeom prst="roundRect">
            <a:avLst>
              <a:gd name="adj" fmla="val 50000"/>
            </a:avLst>
          </a:prstGeom>
          <a:solidFill>
            <a:srgbClr val="E2BBB5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41" name="Shape 39"/>
          <p:cNvSpPr/>
          <p:nvPr/>
        </p:nvSpPr>
        <p:spPr>
          <a:xfrm>
            <a:off x="4537844" y="4390430"/>
            <a:ext cx="68312" cy="68312"/>
          </a:xfrm>
          <a:prstGeom prst="ellipse">
            <a:avLst/>
          </a:prstGeom>
          <a:solidFill>
            <a:srgbClr val="F66A53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42" name="Shape 40"/>
          <p:cNvSpPr/>
          <p:nvPr/>
        </p:nvSpPr>
        <p:spPr>
          <a:xfrm>
            <a:off x="4845248" y="4060254"/>
            <a:ext cx="3802633" cy="728737"/>
          </a:xfrm>
          <a:prstGeom prst="roundRect">
            <a:avLst>
              <a:gd name="adj" fmla="val 5250"/>
            </a:avLst>
          </a:prstGeom>
          <a:solidFill>
            <a:srgbClr val="FCD5CF"/>
          </a:solidFill>
          <a:ln w="4763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3" name="Text 41"/>
          <p:cNvSpPr/>
          <p:nvPr/>
        </p:nvSpPr>
        <p:spPr>
          <a:xfrm>
            <a:off x="4941094" y="4156100"/>
            <a:ext cx="3610942" cy="142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Dzień 8 · 07.11.2026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941094" y="4338489"/>
            <a:ext cx="3610942" cy="252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Podsumowanie, Przekazanie Materiałów i Grupowy Projekt Końcowy</a:t>
            </a:r>
            <a:endParaRPr lang="en-US" sz="70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Podsumowanie i projekt końcowy.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6F0D6773-7758-B57D-F9EB-D94305B1AC20}"/>
              </a:ext>
            </a:extLst>
          </p:cNvPr>
          <p:cNvSpPr txBox="1"/>
          <p:nvPr/>
        </p:nvSpPr>
        <p:spPr>
          <a:xfrm>
            <a:off x="1097280" y="2045170"/>
            <a:ext cx="6949440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l-PL" sz="6000" b="1" i="0" dirty="0">
                <a:solidFill>
                  <a:srgbClr val="F66953"/>
                </a:solidFill>
                <a:latin typeface="Geologica Medium"/>
              </a:rPr>
              <a:t>Powtórka</a:t>
            </a:r>
            <a:endParaRPr sz="6000" b="1" i="0" dirty="0">
              <a:solidFill>
                <a:srgbClr val="F66953"/>
              </a:solidFill>
              <a:latin typeface="Geologica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179C8-51ED-B220-D364-7BD6D5EB5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B7F2A-5B64-5E1E-99FB-154E7C8C8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 wrap="square" anchor="ctr">
            <a:normAutofit/>
          </a:bodyPr>
          <a:lstStyle/>
          <a:p>
            <a:pPr>
              <a:lnSpc>
                <a:spcPts val="1438"/>
              </a:lnSpc>
            </a:pPr>
            <a:r>
              <a:rPr lang="pl-PL" sz="2800" dirty="0">
                <a:latin typeface="Geologica Semi Bold" pitchFamily="34" charset="0"/>
                <a:ea typeface="Geologica Semi Bold" pitchFamily="34" charset="-122"/>
                <a:cs typeface="Geologica Semi Bold" pitchFamily="34" charset="-120"/>
              </a:rPr>
              <a:t>Uczenie maszynowe</a:t>
            </a:r>
            <a:endParaRPr lang="en-US" sz="2800" dirty="0"/>
          </a:p>
        </p:txBody>
      </p:sp>
      <p:pic>
        <p:nvPicPr>
          <p:cNvPr id="4098" name="Picture 2" descr="Image">
            <a:extLst>
              <a:ext uri="{FF2B5EF4-FFF2-40B4-BE49-F238E27FC236}">
                <a16:creationId xmlns:a16="http://schemas.microsoft.com/office/drawing/2014/main" id="{A26F899A-637B-E1F7-E9E7-4287F17D61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2695" y="1109930"/>
            <a:ext cx="6207854" cy="3386298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88773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81831" y="262272"/>
            <a:ext cx="2480891" cy="310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38"/>
              </a:lnSpc>
            </a:pPr>
            <a:r>
              <a:rPr lang="en-US" sz="1938" dirty="0">
                <a:solidFill>
                  <a:srgbClr val="181818"/>
                </a:solidFill>
                <a:latin typeface="Geologica Semi Bold" pitchFamily="34" charset="0"/>
                <a:ea typeface="Geologica Semi Bold" pitchFamily="34" charset="-122"/>
                <a:cs typeface="Geologica Semi Bold" pitchFamily="34" charset="-120"/>
              </a:rPr>
              <a:t>Sieci Neuronowe</a:t>
            </a:r>
            <a:endParaRPr lang="en-US" sz="1938" dirty="0"/>
          </a:p>
        </p:txBody>
      </p:sp>
      <p:sp>
        <p:nvSpPr>
          <p:cNvPr id="5" name="Shape 2"/>
          <p:cNvSpPr/>
          <p:nvPr/>
        </p:nvSpPr>
        <p:spPr>
          <a:xfrm>
            <a:off x="496119" y="4032572"/>
            <a:ext cx="2670944" cy="693614"/>
          </a:xfrm>
          <a:prstGeom prst="roundRect">
            <a:avLst>
              <a:gd name="adj" fmla="val 9887"/>
            </a:avLst>
          </a:prstGeom>
          <a:solidFill>
            <a:srgbClr val="FBF3ED"/>
          </a:solidFill>
          <a:ln w="22860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 sz="875"/>
          </a:p>
        </p:txBody>
      </p:sp>
      <p:sp>
        <p:nvSpPr>
          <p:cNvPr id="6" name="Shape 3"/>
          <p:cNvSpPr/>
          <p:nvPr/>
        </p:nvSpPr>
        <p:spPr>
          <a:xfrm>
            <a:off x="481831" y="4032572"/>
            <a:ext cx="57150" cy="693614"/>
          </a:xfrm>
          <a:prstGeom prst="roundRect">
            <a:avLst>
              <a:gd name="adj" fmla="val 72930"/>
            </a:avLst>
          </a:prstGeom>
          <a:solidFill>
            <a:srgbClr val="F66A53"/>
          </a:solidFill>
          <a:ln/>
        </p:spPr>
        <p:txBody>
          <a:bodyPr/>
          <a:lstStyle/>
          <a:p>
            <a:endParaRPr lang="pl-PL" sz="875"/>
          </a:p>
        </p:txBody>
      </p:sp>
      <p:sp>
        <p:nvSpPr>
          <p:cNvPr id="7" name="Text 4"/>
          <p:cNvSpPr/>
          <p:nvPr/>
        </p:nvSpPr>
        <p:spPr>
          <a:xfrm>
            <a:off x="652463" y="4146054"/>
            <a:ext cx="1240408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219"/>
              </a:lnSpc>
            </a:pPr>
            <a:r>
              <a:rPr lang="en-US" sz="969" dirty="0">
                <a:latin typeface="Geologica Semi Bold" pitchFamily="34" charset="0"/>
                <a:ea typeface="Geologica Semi Bold" pitchFamily="34" charset="-122"/>
                <a:cs typeface="Geologica Semi Bold" pitchFamily="34" charset="-120"/>
              </a:rPr>
              <a:t>Warstwa wejściowa</a:t>
            </a:r>
            <a:endParaRPr lang="en-US" sz="969" dirty="0"/>
          </a:p>
        </p:txBody>
      </p:sp>
      <p:sp>
        <p:nvSpPr>
          <p:cNvPr id="8" name="Text 5"/>
          <p:cNvSpPr/>
          <p:nvPr/>
        </p:nvSpPr>
        <p:spPr>
          <a:xfrm>
            <a:off x="652462" y="4342730"/>
            <a:ext cx="2401119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063"/>
              </a:lnSpc>
            </a:pPr>
            <a:r>
              <a:rPr lang="en-US" sz="781" dirty="0">
                <a:latin typeface="Karla" pitchFamily="34" charset="0"/>
                <a:ea typeface="Karla" pitchFamily="34" charset="-122"/>
                <a:cs typeface="Karla" pitchFamily="34" charset="-120"/>
              </a:rPr>
              <a:t>Przyjmuje surowe dane — piksele, tokeny, sygnały</a:t>
            </a:r>
            <a:endParaRPr lang="en-US" sz="781" dirty="0"/>
          </a:p>
        </p:txBody>
      </p:sp>
      <p:sp>
        <p:nvSpPr>
          <p:cNvPr id="9" name="Shape 6"/>
          <p:cNvSpPr/>
          <p:nvPr/>
        </p:nvSpPr>
        <p:spPr>
          <a:xfrm>
            <a:off x="3236491" y="4032572"/>
            <a:ext cx="2670944" cy="693614"/>
          </a:xfrm>
          <a:prstGeom prst="roundRect">
            <a:avLst>
              <a:gd name="adj" fmla="val 9887"/>
            </a:avLst>
          </a:prstGeom>
          <a:solidFill>
            <a:srgbClr val="FBF3ED"/>
          </a:solidFill>
          <a:ln w="22860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 sz="875"/>
          </a:p>
        </p:txBody>
      </p:sp>
      <p:sp>
        <p:nvSpPr>
          <p:cNvPr id="10" name="Shape 7"/>
          <p:cNvSpPr/>
          <p:nvPr/>
        </p:nvSpPr>
        <p:spPr>
          <a:xfrm>
            <a:off x="3222203" y="4032572"/>
            <a:ext cx="57150" cy="693614"/>
          </a:xfrm>
          <a:prstGeom prst="roundRect">
            <a:avLst>
              <a:gd name="adj" fmla="val 72930"/>
            </a:avLst>
          </a:prstGeom>
          <a:solidFill>
            <a:srgbClr val="F66A53"/>
          </a:solidFill>
          <a:ln/>
        </p:spPr>
        <p:txBody>
          <a:bodyPr/>
          <a:lstStyle/>
          <a:p>
            <a:endParaRPr lang="pl-PL" sz="875"/>
          </a:p>
        </p:txBody>
      </p:sp>
      <p:sp>
        <p:nvSpPr>
          <p:cNvPr id="11" name="Text 8"/>
          <p:cNvSpPr/>
          <p:nvPr/>
        </p:nvSpPr>
        <p:spPr>
          <a:xfrm>
            <a:off x="3392835" y="4146054"/>
            <a:ext cx="1240408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219"/>
              </a:lnSpc>
            </a:pPr>
            <a:r>
              <a:rPr lang="en-US" sz="969" dirty="0">
                <a:latin typeface="Geologica Semi Bold" pitchFamily="34" charset="0"/>
                <a:ea typeface="Geologica Semi Bold" pitchFamily="34" charset="-122"/>
                <a:cs typeface="Geologica Semi Bold" pitchFamily="34" charset="-120"/>
              </a:rPr>
              <a:t>Warstwy ukryte</a:t>
            </a:r>
            <a:endParaRPr lang="en-US" sz="969" dirty="0"/>
          </a:p>
        </p:txBody>
      </p:sp>
      <p:sp>
        <p:nvSpPr>
          <p:cNvPr id="12" name="Text 9"/>
          <p:cNvSpPr/>
          <p:nvPr/>
        </p:nvSpPr>
        <p:spPr>
          <a:xfrm>
            <a:off x="3392835" y="4342731"/>
            <a:ext cx="2401119" cy="269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063"/>
              </a:lnSpc>
            </a:pPr>
            <a:r>
              <a:rPr lang="en-US" sz="781" dirty="0">
                <a:latin typeface="Karla" pitchFamily="34" charset="0"/>
                <a:ea typeface="Karla" pitchFamily="34" charset="-122"/>
                <a:cs typeface="Karla" pitchFamily="34" charset="-120"/>
              </a:rPr>
              <a:t>Wyodrębniają wzorce i cechy na kolejnych poziomach abstrakcji</a:t>
            </a:r>
            <a:endParaRPr lang="en-US" sz="781" dirty="0"/>
          </a:p>
        </p:txBody>
      </p:sp>
      <p:sp>
        <p:nvSpPr>
          <p:cNvPr id="13" name="Shape 10"/>
          <p:cNvSpPr/>
          <p:nvPr/>
        </p:nvSpPr>
        <p:spPr>
          <a:xfrm>
            <a:off x="5976863" y="4032572"/>
            <a:ext cx="2670944" cy="693614"/>
          </a:xfrm>
          <a:prstGeom prst="roundRect">
            <a:avLst>
              <a:gd name="adj" fmla="val 9887"/>
            </a:avLst>
          </a:prstGeom>
          <a:solidFill>
            <a:srgbClr val="FBF3ED"/>
          </a:solidFill>
          <a:ln w="22860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 sz="875"/>
          </a:p>
        </p:txBody>
      </p:sp>
      <p:sp>
        <p:nvSpPr>
          <p:cNvPr id="14" name="Shape 11"/>
          <p:cNvSpPr/>
          <p:nvPr/>
        </p:nvSpPr>
        <p:spPr>
          <a:xfrm>
            <a:off x="5962576" y="4032572"/>
            <a:ext cx="57150" cy="693614"/>
          </a:xfrm>
          <a:prstGeom prst="roundRect">
            <a:avLst>
              <a:gd name="adj" fmla="val 72930"/>
            </a:avLst>
          </a:prstGeom>
          <a:solidFill>
            <a:srgbClr val="F66A53"/>
          </a:solidFill>
          <a:ln/>
        </p:spPr>
        <p:txBody>
          <a:bodyPr/>
          <a:lstStyle/>
          <a:p>
            <a:endParaRPr lang="pl-PL" sz="875"/>
          </a:p>
        </p:txBody>
      </p:sp>
      <p:sp>
        <p:nvSpPr>
          <p:cNvPr id="15" name="Text 12"/>
          <p:cNvSpPr/>
          <p:nvPr/>
        </p:nvSpPr>
        <p:spPr>
          <a:xfrm>
            <a:off x="6133207" y="4146054"/>
            <a:ext cx="1240408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219"/>
              </a:lnSpc>
            </a:pPr>
            <a:r>
              <a:rPr lang="en-US" sz="969" dirty="0">
                <a:latin typeface="Geologica Semi Bold" pitchFamily="34" charset="0"/>
                <a:ea typeface="Geologica Semi Bold" pitchFamily="34" charset="-122"/>
                <a:cs typeface="Geologica Semi Bold" pitchFamily="34" charset="-120"/>
              </a:rPr>
              <a:t>Warstwa wyjściowa</a:t>
            </a:r>
            <a:endParaRPr lang="en-US" sz="969" dirty="0"/>
          </a:p>
        </p:txBody>
      </p:sp>
      <p:sp>
        <p:nvSpPr>
          <p:cNvPr id="16" name="Text 13"/>
          <p:cNvSpPr/>
          <p:nvPr/>
        </p:nvSpPr>
        <p:spPr>
          <a:xfrm>
            <a:off x="6133207" y="4342731"/>
            <a:ext cx="2401119" cy="269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063"/>
              </a:lnSpc>
            </a:pPr>
            <a:r>
              <a:rPr lang="en-US" sz="781" dirty="0">
                <a:latin typeface="Karla" pitchFamily="34" charset="0"/>
                <a:ea typeface="Karla" pitchFamily="34" charset="-122"/>
                <a:cs typeface="Karla" pitchFamily="34" charset="-120"/>
              </a:rPr>
              <a:t>Produkuje końcowy wynik: klasyfikację, predykcję lub generację</a:t>
            </a:r>
            <a:endParaRPr lang="en-US" sz="781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405A0AB-6509-9BA1-1F48-44A0EF0B57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218284" cy="514508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62617-7BAA-B2E9-9A06-C2F7B459D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CB9C3-CB67-E88B-064B-C7299ED3E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 wrap="square" anchor="ctr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pl-PL" sz="2600" dirty="0"/>
              <a:t>KONWOLUCYJNE SIECI NEURONOWE (CNNS)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72BC16-4374-116C-674B-ED2659C8DC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17725"/>
            <a:ext cx="7772400" cy="3491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6748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6987" y="368424"/>
            <a:ext cx="3304952" cy="440665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96119" y="1669478"/>
            <a:ext cx="4722763" cy="902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Modele Dyfuzyjne: 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96119" y="2106588"/>
            <a:ext cx="4722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Od Szumu do Obrazu</a:t>
            </a:r>
            <a:endParaRPr lang="en-US" sz="2400" dirty="0"/>
          </a:p>
        </p:txBody>
      </p:sp>
      <p:sp>
        <p:nvSpPr>
          <p:cNvPr id="6" name="Text 2"/>
          <p:cNvSpPr/>
          <p:nvPr/>
        </p:nvSpPr>
        <p:spPr>
          <a:xfrm>
            <a:off x="496119" y="2680170"/>
            <a:ext cx="4722763" cy="1253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Modele dyfuzyjne to klasa modeli, które uczą się stopniowo usuwać szum z danych, aby stworzyć spójne obrazy lub inne </a:t>
            </a:r>
            <a:r>
              <a:rPr lang="en-US" sz="1100" dirty="0" err="1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dane</a:t>
            </a:r>
            <a:r>
              <a:rPr lang="en-US" sz="11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.</a:t>
            </a:r>
            <a:endParaRPr lang="pl-PL" sz="1100" dirty="0">
              <a:solidFill>
                <a:srgbClr val="000000"/>
              </a:solidFill>
              <a:latin typeface="Karla" pitchFamily="34" charset="0"/>
              <a:ea typeface="Karla" pitchFamily="34" charset="-122"/>
              <a:cs typeface="Karla" pitchFamily="34" charset="-120"/>
            </a:endParaRPr>
          </a:p>
          <a:p>
            <a:pPr marL="0" indent="0" algn="l">
              <a:lnSpc>
                <a:spcPct val="133000"/>
              </a:lnSpc>
              <a:buNone/>
            </a:pP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Proces zaczyna się od losowego szumu, który krok po kroku jest przekształcany w wysokiej jakości, realistyczną reprezentację.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08322"/>
            <a:ext cx="3514874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94"/>
              </a:lnSpc>
            </a:pPr>
            <a:r>
              <a:rPr lang="en-US" sz="2800" dirty="0">
                <a:solidFill>
                  <a:srgbClr val="181818"/>
                </a:solidFill>
                <a:latin typeface="+mj-lt"/>
                <a:ea typeface="Geologica Semi Bold" pitchFamily="34" charset="-122"/>
                <a:cs typeface="Geologica Semi Bold" pitchFamily="34" charset="-120"/>
              </a:rPr>
              <a:t>Architektura Transformera</a:t>
            </a:r>
            <a:endParaRPr lang="en-US" sz="2800" dirty="0">
              <a:latin typeface="+mj-lt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3" y="1406275"/>
            <a:ext cx="2331915" cy="331015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Text 1"/>
          <p:cNvSpPr/>
          <p:nvPr/>
        </p:nvSpPr>
        <p:spPr>
          <a:xfrm>
            <a:off x="4010993" y="1579346"/>
            <a:ext cx="4490096" cy="709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156"/>
              </a:lnSpc>
            </a:pPr>
            <a:r>
              <a:rPr lang="en-US" sz="1200" dirty="0">
                <a:latin typeface="+mj-lt"/>
                <a:ea typeface="Karla" pitchFamily="34" charset="-122"/>
                <a:cs typeface="Karla" pitchFamily="34" charset="-120"/>
              </a:rPr>
              <a:t>Transformer używa </a:t>
            </a:r>
            <a:r>
              <a:rPr lang="en-US" sz="1200" b="1" dirty="0">
                <a:latin typeface="+mj-lt"/>
                <a:ea typeface="Karla" pitchFamily="34" charset="-122"/>
                <a:cs typeface="Karla" pitchFamily="34" charset="-120"/>
              </a:rPr>
              <a:t>mechanizmów uwagi</a:t>
            </a:r>
            <a:r>
              <a:rPr lang="en-US" sz="1200" dirty="0">
                <a:latin typeface="+mj-lt"/>
                <a:ea typeface="Karla" pitchFamily="34" charset="-122"/>
                <a:cs typeface="Karla" pitchFamily="34" charset="-120"/>
              </a:rPr>
              <a:t>, które pozwalają modelowi "patrzeć" na cały kontekst </a:t>
            </a:r>
            <a:r>
              <a:rPr lang="en-US" sz="1200" dirty="0" err="1">
                <a:latin typeface="+mj-lt"/>
                <a:ea typeface="Karla" pitchFamily="34" charset="-122"/>
                <a:cs typeface="Karla" pitchFamily="34" charset="-120"/>
              </a:rPr>
              <a:t>zdania</a:t>
            </a:r>
            <a:r>
              <a:rPr lang="en-US" sz="1200" dirty="0">
                <a:latin typeface="+mj-lt"/>
                <a:ea typeface="Karla" pitchFamily="34" charset="-122"/>
                <a:cs typeface="Karla" pitchFamily="34" charset="-120"/>
              </a:rPr>
              <a:t>  </a:t>
            </a:r>
            <a:r>
              <a:rPr lang="en-US" sz="1200" dirty="0" err="1">
                <a:latin typeface="+mj-lt"/>
                <a:ea typeface="Karla" pitchFamily="34" charset="-122"/>
                <a:cs typeface="Karla" pitchFamily="34" charset="-120"/>
              </a:rPr>
              <a:t>rozumiejąc</a:t>
            </a:r>
            <a:r>
              <a:rPr lang="en-US" sz="1200" dirty="0">
                <a:latin typeface="+mj-lt"/>
                <a:ea typeface="Karla" pitchFamily="34" charset="-122"/>
                <a:cs typeface="Karla" pitchFamily="34" charset="-120"/>
              </a:rPr>
              <a:t>,</a:t>
            </a:r>
            <a:r>
              <a:rPr lang="pl-PL" sz="1200" dirty="0">
                <a:latin typeface="+mj-lt"/>
                <a:ea typeface="Karla" pitchFamily="34" charset="-122"/>
                <a:cs typeface="Karla" pitchFamily="34" charset="-120"/>
              </a:rPr>
              <a:t> </a:t>
            </a:r>
            <a:r>
              <a:rPr lang="en-US" sz="1200" dirty="0">
                <a:latin typeface="+mj-lt"/>
                <a:ea typeface="Karla" pitchFamily="34" charset="-122"/>
                <a:cs typeface="Karla" pitchFamily="34" charset="-120"/>
              </a:rPr>
              <a:t>jak każde słowo odnosi się do pozostałych.</a:t>
            </a:r>
            <a:endParaRPr lang="en-US" sz="1200" dirty="0">
              <a:latin typeface="+mj-lt"/>
            </a:endParaRPr>
          </a:p>
        </p:txBody>
      </p:sp>
      <p:sp>
        <p:nvSpPr>
          <p:cNvPr id="5" name="Text 2"/>
          <p:cNvSpPr/>
          <p:nvPr/>
        </p:nvSpPr>
        <p:spPr>
          <a:xfrm>
            <a:off x="4056148" y="2405658"/>
            <a:ext cx="13290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281"/>
              </a:lnSpc>
            </a:pPr>
            <a:r>
              <a:rPr lang="en-US" sz="2000" dirty="0">
                <a:solidFill>
                  <a:srgbClr val="181818"/>
                </a:solidFill>
                <a:latin typeface="+mj-lt"/>
                <a:ea typeface="Geologica Semi Bold" pitchFamily="34" charset="-122"/>
                <a:cs typeface="Geologica Semi Bold" pitchFamily="34" charset="-120"/>
              </a:rPr>
              <a:t>Jak to </a:t>
            </a:r>
            <a:r>
              <a:rPr lang="en-US" sz="2000" dirty="0" err="1">
                <a:solidFill>
                  <a:srgbClr val="181818"/>
                </a:solidFill>
                <a:latin typeface="+mj-lt"/>
                <a:ea typeface="Geologica Semi Bold" pitchFamily="34" charset="-122"/>
                <a:cs typeface="Geologica Semi Bold" pitchFamily="34" charset="-120"/>
              </a:rPr>
              <a:t>działa</a:t>
            </a:r>
            <a:r>
              <a:rPr lang="en-US" sz="2000" dirty="0">
                <a:solidFill>
                  <a:srgbClr val="181818"/>
                </a:solidFill>
                <a:latin typeface="+mj-lt"/>
                <a:ea typeface="Geologica Semi Bold" pitchFamily="34" charset="-122"/>
                <a:cs typeface="Geologica Semi Bold" pitchFamily="34" charset="-120"/>
              </a:rPr>
              <a:t>?</a:t>
            </a:r>
            <a:endParaRPr lang="en-US" sz="2000" dirty="0">
              <a:latin typeface="+mj-lt"/>
            </a:endParaRPr>
          </a:p>
        </p:txBody>
      </p:sp>
      <p:sp>
        <p:nvSpPr>
          <p:cNvPr id="6" name="Shape 3"/>
          <p:cNvSpPr/>
          <p:nvPr/>
        </p:nvSpPr>
        <p:spPr>
          <a:xfrm>
            <a:off x="4056222" y="2822185"/>
            <a:ext cx="239167" cy="239167"/>
          </a:xfrm>
          <a:prstGeom prst="roundRect">
            <a:avLst>
              <a:gd name="adj" fmla="val 18672"/>
            </a:avLst>
          </a:prstGeom>
          <a:solidFill>
            <a:srgbClr val="FCD5CF"/>
          </a:solidFill>
          <a:ln w="7620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 sz="1000">
              <a:latin typeface="+mj-lt"/>
            </a:endParaRPr>
          </a:p>
        </p:txBody>
      </p:sp>
      <p:sp>
        <p:nvSpPr>
          <p:cNvPr id="7" name="Text 4"/>
          <p:cNvSpPr/>
          <p:nvPr/>
        </p:nvSpPr>
        <p:spPr>
          <a:xfrm>
            <a:off x="4095996" y="2863111"/>
            <a:ext cx="159469" cy="199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250"/>
              </a:lnSpc>
            </a:pPr>
            <a:r>
              <a:rPr lang="en-US" sz="1600" dirty="0">
                <a:latin typeface="+mj-lt"/>
                <a:ea typeface="Geologica Semi Bold" pitchFamily="34" charset="-122"/>
                <a:cs typeface="Geologica Semi Bold" pitchFamily="34" charset="-120"/>
              </a:rPr>
              <a:t>1</a:t>
            </a:r>
            <a:endParaRPr lang="en-US" sz="1600" dirty="0">
              <a:latin typeface="+mj-lt"/>
            </a:endParaRPr>
          </a:p>
        </p:txBody>
      </p:sp>
      <p:sp>
        <p:nvSpPr>
          <p:cNvPr id="8" name="Text 5"/>
          <p:cNvSpPr/>
          <p:nvPr/>
        </p:nvSpPr>
        <p:spPr>
          <a:xfrm>
            <a:off x="4375086" y="2828242"/>
            <a:ext cx="1736899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281"/>
              </a:lnSpc>
            </a:pPr>
            <a:r>
              <a:rPr lang="en-US" sz="1200" dirty="0">
                <a:latin typeface="+mj-lt"/>
                <a:ea typeface="Geologica Semi Bold" pitchFamily="34" charset="-122"/>
                <a:cs typeface="Geologica Semi Bold" pitchFamily="34" charset="-120"/>
              </a:rPr>
              <a:t>Równoległe</a:t>
            </a:r>
            <a:r>
              <a:rPr lang="en-US" sz="1100" dirty="0">
                <a:latin typeface="+mj-lt"/>
                <a:ea typeface="Geologica Semi Bold" pitchFamily="34" charset="-122"/>
                <a:cs typeface="Geologica Semi Bold" pitchFamily="34" charset="-120"/>
              </a:rPr>
              <a:t> przetwarzanie</a:t>
            </a:r>
            <a:endParaRPr lang="en-US" sz="1100" dirty="0">
              <a:latin typeface="+mj-lt"/>
            </a:endParaRPr>
          </a:p>
        </p:txBody>
      </p:sp>
      <p:sp>
        <p:nvSpPr>
          <p:cNvPr id="9" name="Text 6"/>
          <p:cNvSpPr/>
          <p:nvPr/>
        </p:nvSpPr>
        <p:spPr>
          <a:xfrm>
            <a:off x="4375086" y="3042109"/>
            <a:ext cx="2331914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156"/>
              </a:lnSpc>
            </a:pPr>
            <a:r>
              <a:rPr lang="en-US" sz="1050" dirty="0">
                <a:latin typeface="+mj-lt"/>
                <a:ea typeface="Karla" pitchFamily="34" charset="-122"/>
                <a:cs typeface="Karla" pitchFamily="34" charset="-120"/>
              </a:rPr>
              <a:t>Wszystkie</a:t>
            </a:r>
            <a:r>
              <a:rPr lang="en-US" sz="1000" dirty="0">
                <a:latin typeface="+mj-lt"/>
                <a:ea typeface="Karla" pitchFamily="34" charset="-122"/>
                <a:cs typeface="Karla" pitchFamily="34" charset="-120"/>
              </a:rPr>
              <a:t> tokeny analizowane jednocześnie</a:t>
            </a:r>
            <a:endParaRPr lang="en-US" sz="1000" dirty="0">
              <a:latin typeface="+mj-lt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056222" y="3359117"/>
            <a:ext cx="239167" cy="239167"/>
          </a:xfrm>
          <a:prstGeom prst="roundRect">
            <a:avLst>
              <a:gd name="adj" fmla="val 18672"/>
            </a:avLst>
          </a:prstGeom>
          <a:solidFill>
            <a:srgbClr val="FCD5CF"/>
          </a:solidFill>
          <a:ln w="7620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 sz="1000">
              <a:latin typeface="+mj-lt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095996" y="3396700"/>
            <a:ext cx="159469" cy="199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250"/>
              </a:lnSpc>
            </a:pPr>
            <a:r>
              <a:rPr lang="en-US" sz="1600" dirty="0">
                <a:latin typeface="+mj-lt"/>
                <a:ea typeface="Geologica Semi Bold" pitchFamily="34" charset="-122"/>
                <a:cs typeface="Geologica Semi Bold" pitchFamily="34" charset="-120"/>
              </a:rPr>
              <a:t>2</a:t>
            </a:r>
            <a:endParaRPr lang="en-US" sz="1600" dirty="0">
              <a:latin typeface="+mj-lt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375086" y="3365174"/>
            <a:ext cx="1557486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281"/>
              </a:lnSpc>
            </a:pPr>
            <a:r>
              <a:rPr lang="en-US" sz="1100" dirty="0">
                <a:latin typeface="+mj-lt"/>
                <a:ea typeface="Geologica Semi Bold" pitchFamily="34" charset="-122"/>
                <a:cs typeface="Geologica Semi Bold" pitchFamily="34" charset="-120"/>
              </a:rPr>
              <a:t>Relacje </a:t>
            </a:r>
            <a:r>
              <a:rPr lang="en-US" sz="1200" dirty="0">
                <a:latin typeface="+mj-lt"/>
                <a:ea typeface="Geologica Semi Bold" pitchFamily="34" charset="-122"/>
                <a:cs typeface="Geologica Semi Bold" pitchFamily="34" charset="-120"/>
              </a:rPr>
              <a:t>między</a:t>
            </a:r>
            <a:r>
              <a:rPr lang="en-US" sz="1100" dirty="0">
                <a:latin typeface="+mj-lt"/>
                <a:ea typeface="Geologica Semi Bold" pitchFamily="34" charset="-122"/>
                <a:cs typeface="Geologica Semi Bold" pitchFamily="34" charset="-120"/>
              </a:rPr>
              <a:t> słowami</a:t>
            </a:r>
            <a:endParaRPr lang="en-US" sz="1100" dirty="0">
              <a:latin typeface="+mj-lt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375087" y="3579040"/>
            <a:ext cx="2331988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156"/>
              </a:lnSpc>
            </a:pPr>
            <a:r>
              <a:rPr lang="en-US" sz="1000" dirty="0">
                <a:latin typeface="+mj-lt"/>
                <a:ea typeface="Karla" pitchFamily="34" charset="-122"/>
                <a:cs typeface="Karla" pitchFamily="34" charset="-120"/>
              </a:rPr>
              <a:t>Model oblicza powiązania każdego słowa z </a:t>
            </a:r>
            <a:r>
              <a:rPr lang="en-US" sz="1050" dirty="0">
                <a:latin typeface="+mj-lt"/>
                <a:ea typeface="Karla" pitchFamily="34" charset="-122"/>
                <a:cs typeface="Karla" pitchFamily="34" charset="-120"/>
              </a:rPr>
              <a:t>każdym</a:t>
            </a:r>
            <a:endParaRPr lang="en-US" sz="1000" dirty="0">
              <a:latin typeface="+mj-lt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4056148" y="4077883"/>
            <a:ext cx="239167" cy="239167"/>
          </a:xfrm>
          <a:prstGeom prst="roundRect">
            <a:avLst>
              <a:gd name="adj" fmla="val 18672"/>
            </a:avLst>
          </a:prstGeom>
          <a:solidFill>
            <a:srgbClr val="FCD5CF"/>
          </a:solidFill>
          <a:ln w="7620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 sz="1000">
              <a:latin typeface="+mj-lt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4095996" y="4112023"/>
            <a:ext cx="159469" cy="199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250"/>
              </a:lnSpc>
            </a:pPr>
            <a:r>
              <a:rPr lang="en-US" sz="1600" dirty="0">
                <a:latin typeface="+mj-lt"/>
                <a:ea typeface="Geologica Semi Bold" pitchFamily="34" charset="-122"/>
                <a:cs typeface="Geologica Semi Bold" pitchFamily="34" charset="-120"/>
              </a:rPr>
              <a:t>3</a:t>
            </a:r>
            <a:endParaRPr lang="en-US" sz="1600" dirty="0">
              <a:latin typeface="+mj-lt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4375012" y="4091560"/>
            <a:ext cx="1361852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281"/>
              </a:lnSpc>
            </a:pPr>
            <a:r>
              <a:rPr lang="en-US" sz="1200" dirty="0">
                <a:latin typeface="+mj-lt"/>
                <a:ea typeface="Geologica Semi Bold" pitchFamily="34" charset="-122"/>
                <a:cs typeface="Geologica Semi Bold" pitchFamily="34" charset="-120"/>
              </a:rPr>
              <a:t>Dynamiczne</a:t>
            </a:r>
            <a:r>
              <a:rPr lang="en-US" sz="1100" dirty="0">
                <a:latin typeface="+mj-lt"/>
                <a:ea typeface="Geologica Semi Bold" pitchFamily="34" charset="-122"/>
                <a:cs typeface="Geologica Semi Bold" pitchFamily="34" charset="-120"/>
              </a:rPr>
              <a:t> ważenie</a:t>
            </a:r>
            <a:endParaRPr lang="en-US" sz="1100" dirty="0">
              <a:latin typeface="+mj-lt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4375012" y="4305426"/>
            <a:ext cx="2331988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156"/>
              </a:lnSpc>
            </a:pPr>
            <a:r>
              <a:rPr lang="en-US" sz="1000" dirty="0">
                <a:latin typeface="+mj-lt"/>
                <a:ea typeface="Karla" pitchFamily="34" charset="-122"/>
                <a:cs typeface="Karla" pitchFamily="34" charset="-120"/>
              </a:rPr>
              <a:t>Kontekst zachowany przez całą długość </a:t>
            </a:r>
            <a:r>
              <a:rPr lang="en-US" sz="1050" dirty="0">
                <a:latin typeface="+mj-lt"/>
                <a:ea typeface="Karla" pitchFamily="34" charset="-122"/>
                <a:cs typeface="Karla" pitchFamily="34" charset="-120"/>
              </a:rPr>
              <a:t>sekwencji</a:t>
            </a:r>
            <a:endParaRPr lang="en-US" sz="1000" dirty="0">
              <a:latin typeface="+mj-l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80988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Transformery vs. LLM: Architektura a Model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454572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Transformer i Duży Model Językowy (LLM) to powiązane, lecz odrębne koncepty w dziedzinie sztucznej inteligencji.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96119" y="1792560"/>
            <a:ext cx="4013895" cy="2131888"/>
          </a:xfrm>
          <a:prstGeom prst="roundRect">
            <a:avLst>
              <a:gd name="adj" fmla="val 2444"/>
            </a:avLst>
          </a:prstGeom>
          <a:solidFill>
            <a:srgbClr val="FCD5CF"/>
          </a:solidFill>
          <a:ln w="4763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Shape 3"/>
          <p:cNvSpPr/>
          <p:nvPr/>
        </p:nvSpPr>
        <p:spPr>
          <a:xfrm>
            <a:off x="624855" y="1921297"/>
            <a:ext cx="372070" cy="372070"/>
          </a:xfrm>
          <a:prstGeom prst="ellipse">
            <a:avLst/>
          </a:prstGeom>
          <a:solidFill>
            <a:srgbClr val="F66A53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174" y="2023542"/>
            <a:ext cx="167432" cy="1674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4855" y="2417341"/>
            <a:ext cx="375642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Transformer: Architektura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24855" y="2685604"/>
            <a:ext cx="3756422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Transformer to </a:t>
            </a:r>
            <a:r>
              <a:rPr lang="en-US" sz="95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konkretna architektura</a:t>
            </a: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sieci neuronowej wprowadzająca mechanizm uwagi (self-attention). To "plan budowy" algorytmu.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24855" y="3355404"/>
            <a:ext cx="3756422" cy="4403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Wzór dla sieci neuronowych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Kluczowy element: mechanizm uwagi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633987" y="1792560"/>
            <a:ext cx="4013895" cy="2131888"/>
          </a:xfrm>
          <a:prstGeom prst="roundRect">
            <a:avLst>
              <a:gd name="adj" fmla="val 2444"/>
            </a:avLst>
          </a:prstGeom>
          <a:solidFill>
            <a:srgbClr val="FCD5CF"/>
          </a:solidFill>
          <a:ln w="4763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" name="Shape 8"/>
          <p:cNvSpPr/>
          <p:nvPr/>
        </p:nvSpPr>
        <p:spPr>
          <a:xfrm>
            <a:off x="4762723" y="1921297"/>
            <a:ext cx="372070" cy="372070"/>
          </a:xfrm>
          <a:prstGeom prst="ellipse">
            <a:avLst/>
          </a:prstGeom>
          <a:solidFill>
            <a:srgbClr val="F66A53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5043" y="2023542"/>
            <a:ext cx="167432" cy="1674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62723" y="2417341"/>
            <a:ext cx="375642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LLM: Wdrożony Model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762723" y="2685604"/>
            <a:ext cx="375642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LLM to </a:t>
            </a:r>
            <a:r>
              <a:rPr lang="en-US" sz="95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konkretny model</a:t>
            </a: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zbudowany na architekturze Transformer i wytrenowany na </a:t>
            </a:r>
            <a:r>
              <a:rPr lang="en-US" sz="95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ogromnych zbiorach danych tekstowych</a:t>
            </a: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.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4762723" y="3156942"/>
            <a:ext cx="3756422" cy="4403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Wytrenowany na masowych danych językowych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Specjalizacja: generowanie i rozumienie języka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267519" y="4063975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Transformer to </a:t>
            </a:r>
            <a:r>
              <a:rPr lang="pl-PL" sz="1600" dirty="0">
                <a:latin typeface="Karla" pitchFamily="34" charset="0"/>
                <a:ea typeface="Karla" pitchFamily="34" charset="-122"/>
                <a:cs typeface="Karla" pitchFamily="34" charset="-120"/>
              </a:rPr>
              <a:t>typ samochodu np. van</a:t>
            </a:r>
            <a:r>
              <a:rPr lang="en-US" sz="16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, a LLM to </a:t>
            </a:r>
            <a:r>
              <a:rPr lang="pl-PL" sz="16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samochód konkretny model np. </a:t>
            </a:r>
            <a:r>
              <a:rPr lang="pl-PL" sz="1600" dirty="0" err="1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Touran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E4EEB99-FF30-C6B1-C657-772207B2B7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03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4903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FCD5CF"/>
          </a:solidFill>
          <a:ln/>
        </p:spPr>
        <p:txBody>
          <a:bodyPr/>
          <a:lstStyle/>
          <a:p>
            <a:endParaRPr lang="pl-PL" sz="875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5843" y="106263"/>
            <a:ext cx="3287316" cy="493097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388069"/>
            <a:ext cx="5289724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69"/>
              </a:lnSpc>
            </a:pPr>
            <a:r>
              <a:rPr lang="pl-PL" sz="2781" dirty="0">
                <a:solidFill>
                  <a:srgbClr val="181818"/>
                </a:solidFill>
                <a:latin typeface="+mj-lt"/>
                <a:ea typeface="Geologica Semi Bold" pitchFamily="34" charset="-122"/>
                <a:cs typeface="Geologica Semi Bold" pitchFamily="34" charset="-120"/>
              </a:rPr>
              <a:t>Czym jest model LLM?</a:t>
            </a:r>
            <a:endParaRPr lang="en-US" sz="2781" dirty="0">
              <a:latin typeface="+mj-lt"/>
            </a:endParaRPr>
          </a:p>
        </p:txBody>
      </p:sp>
      <p:sp>
        <p:nvSpPr>
          <p:cNvPr id="5" name="Text 2"/>
          <p:cNvSpPr/>
          <p:nvPr/>
        </p:nvSpPr>
        <p:spPr>
          <a:xfrm>
            <a:off x="496119" y="916112"/>
            <a:ext cx="4722763" cy="680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1"/>
              </a:lnSpc>
            </a:pPr>
            <a:r>
              <a:rPr lang="en-US" sz="1200" dirty="0">
                <a:latin typeface="Karla" pitchFamily="34" charset="0"/>
                <a:ea typeface="Karla" pitchFamily="34" charset="-122"/>
                <a:cs typeface="Karla" pitchFamily="34" charset="-120"/>
              </a:rPr>
              <a:t>Duże Modele Językowe (LLM) to systemy AI trenowane na ogromnych zbiorach tekstu i kodu, wykorzystujące architekturę Transformer. </a:t>
            </a:r>
            <a:r>
              <a:rPr lang="en-US" sz="1200" dirty="0" err="1">
                <a:latin typeface="Karla" pitchFamily="34" charset="0"/>
                <a:ea typeface="Karla" pitchFamily="34" charset="-122"/>
                <a:cs typeface="Karla" pitchFamily="34" charset="-120"/>
              </a:rPr>
              <a:t>Zdolne</a:t>
            </a:r>
            <a:r>
              <a:rPr lang="en-US" sz="1200" dirty="0">
                <a:latin typeface="Karla" pitchFamily="34" charset="0"/>
                <a:ea typeface="Karla" pitchFamily="34" charset="-122"/>
                <a:cs typeface="Karla" pitchFamily="34" charset="-120"/>
              </a:rPr>
              <a:t> do rozumienia, generowania i rozumowania w języku </a:t>
            </a:r>
            <a:r>
              <a:rPr lang="en-US" sz="1200" dirty="0" err="1">
                <a:latin typeface="Karla" pitchFamily="34" charset="0"/>
                <a:ea typeface="Karla" pitchFamily="34" charset="-122"/>
                <a:cs typeface="Karla" pitchFamily="34" charset="-120"/>
              </a:rPr>
              <a:t>naturalnym</a:t>
            </a:r>
            <a:r>
              <a:rPr lang="en-US" sz="1200" dirty="0">
                <a:latin typeface="Karla" pitchFamily="34" charset="0"/>
                <a:ea typeface="Karla" pitchFamily="34" charset="-122"/>
                <a:cs typeface="Karla" pitchFamily="34" charset="-120"/>
              </a:rPr>
              <a:t>.</a:t>
            </a:r>
            <a:r>
              <a:rPr lang="pl-PL" sz="1200" dirty="0">
                <a:latin typeface="Karla" pitchFamily="34" charset="0"/>
                <a:ea typeface="Karla" pitchFamily="34" charset="-122"/>
                <a:cs typeface="Karla" pitchFamily="34" charset="-120"/>
              </a:rPr>
              <a:t> </a:t>
            </a:r>
            <a:r>
              <a:rPr lang="pl-PL" sz="1800" b="1" dirty="0">
                <a:latin typeface="Karla" pitchFamily="34" charset="0"/>
                <a:ea typeface="Karla" pitchFamily="34" charset="-122"/>
                <a:cs typeface="Karla" pitchFamily="34" charset="-120"/>
              </a:rPr>
              <a:t>GEN AI</a:t>
            </a:r>
            <a:endParaRPr lang="en-US" sz="1200" b="1" dirty="0"/>
          </a:p>
        </p:txBody>
      </p:sp>
      <p:sp>
        <p:nvSpPr>
          <p:cNvPr id="6" name="Shape 3"/>
          <p:cNvSpPr/>
          <p:nvPr/>
        </p:nvSpPr>
        <p:spPr>
          <a:xfrm>
            <a:off x="496119" y="1968624"/>
            <a:ext cx="2290465" cy="1506811"/>
          </a:xfrm>
          <a:prstGeom prst="roundRect">
            <a:avLst>
              <a:gd name="adj" fmla="val 3952"/>
            </a:avLst>
          </a:prstGeom>
          <a:solidFill>
            <a:srgbClr val="FCD5CF"/>
          </a:solidFill>
          <a:ln w="7620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 sz="875"/>
          </a:p>
        </p:txBody>
      </p:sp>
      <p:sp>
        <p:nvSpPr>
          <p:cNvPr id="7" name="Text 4"/>
          <p:cNvSpPr/>
          <p:nvPr/>
        </p:nvSpPr>
        <p:spPr>
          <a:xfrm>
            <a:off x="642640" y="211514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r>
              <a:rPr lang="en-US" sz="1600" dirty="0">
                <a:latin typeface="Geologica Semi Bold" pitchFamily="34" charset="0"/>
                <a:ea typeface="Geologica Semi Bold" pitchFamily="34" charset="-122"/>
                <a:cs typeface="Geologica Semi Bold" pitchFamily="34" charset="-120"/>
              </a:rPr>
              <a:t>GPT-4 (OpenAI)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2640" y="2421657"/>
            <a:ext cx="199742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1"/>
              </a:lnSpc>
            </a:pPr>
            <a:r>
              <a:rPr lang="en-US" sz="1094" dirty="0">
                <a:latin typeface="Karla" pitchFamily="34" charset="0"/>
                <a:ea typeface="Karla" pitchFamily="34" charset="-122"/>
                <a:cs typeface="Karla" pitchFamily="34" charset="-120"/>
              </a:rPr>
              <a:t>Jeden z najpotężniejszych modeli komercyjnych, napędza ChatGPT i wiele produktów AI</a:t>
            </a:r>
            <a:endParaRPr lang="en-US" sz="1094" dirty="0"/>
          </a:p>
        </p:txBody>
      </p:sp>
      <p:sp>
        <p:nvSpPr>
          <p:cNvPr id="9" name="Shape 6"/>
          <p:cNvSpPr/>
          <p:nvPr/>
        </p:nvSpPr>
        <p:spPr>
          <a:xfrm>
            <a:off x="2928343" y="1968624"/>
            <a:ext cx="2290539" cy="1506811"/>
          </a:xfrm>
          <a:prstGeom prst="roundRect">
            <a:avLst>
              <a:gd name="adj" fmla="val 3952"/>
            </a:avLst>
          </a:prstGeom>
          <a:solidFill>
            <a:srgbClr val="FCD5CF"/>
          </a:solidFill>
          <a:ln w="7620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 sz="875"/>
          </a:p>
        </p:txBody>
      </p:sp>
      <p:sp>
        <p:nvSpPr>
          <p:cNvPr id="10" name="Text 7"/>
          <p:cNvSpPr/>
          <p:nvPr/>
        </p:nvSpPr>
        <p:spPr>
          <a:xfrm>
            <a:off x="3074864" y="211514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r>
              <a:rPr lang="en-US" sz="1600" dirty="0">
                <a:latin typeface="Geologica Semi Bold" pitchFamily="34" charset="0"/>
                <a:ea typeface="Geologica Semi Bold" pitchFamily="34" charset="-122"/>
                <a:cs typeface="Geologica Semi Bold" pitchFamily="34" charset="-120"/>
              </a:rPr>
              <a:t>Mistral AI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074864" y="2421657"/>
            <a:ext cx="1997497" cy="680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1"/>
              </a:lnSpc>
            </a:pPr>
            <a:r>
              <a:rPr lang="en-US" sz="1094" dirty="0">
                <a:latin typeface="Karla" pitchFamily="34" charset="0"/>
                <a:ea typeface="Karla" pitchFamily="34" charset="-122"/>
                <a:cs typeface="Karla" pitchFamily="34" charset="-120"/>
              </a:rPr>
              <a:t>Europejski challenger — wydajne modele open-source o konkurencyjnej jakości</a:t>
            </a:r>
            <a:endParaRPr lang="en-US" sz="1094" dirty="0"/>
          </a:p>
        </p:txBody>
      </p:sp>
      <p:sp>
        <p:nvSpPr>
          <p:cNvPr id="12" name="Shape 9"/>
          <p:cNvSpPr/>
          <p:nvPr/>
        </p:nvSpPr>
        <p:spPr>
          <a:xfrm>
            <a:off x="496119" y="3617193"/>
            <a:ext cx="4722763" cy="1053183"/>
          </a:xfrm>
          <a:prstGeom prst="roundRect">
            <a:avLst>
              <a:gd name="adj" fmla="val 5654"/>
            </a:avLst>
          </a:prstGeom>
          <a:solidFill>
            <a:srgbClr val="FCD5CF"/>
          </a:solidFill>
          <a:ln w="7620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 sz="875"/>
          </a:p>
        </p:txBody>
      </p:sp>
      <p:sp>
        <p:nvSpPr>
          <p:cNvPr id="13" name="Text 10"/>
          <p:cNvSpPr/>
          <p:nvPr/>
        </p:nvSpPr>
        <p:spPr>
          <a:xfrm>
            <a:off x="642640" y="376371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r>
              <a:rPr lang="en-US" sz="1600" dirty="0">
                <a:latin typeface="Geologica Semi Bold" pitchFamily="34" charset="0"/>
                <a:ea typeface="Geologica Semi Bold" pitchFamily="34" charset="-122"/>
                <a:cs typeface="Geologica Semi Bold" pitchFamily="34" charset="-120"/>
              </a:rPr>
              <a:t>Bielik.AI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42640" y="4070227"/>
            <a:ext cx="442972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1"/>
              </a:lnSpc>
            </a:pPr>
            <a:r>
              <a:rPr lang="en-US" sz="1094" dirty="0">
                <a:latin typeface="Karla" pitchFamily="34" charset="0"/>
                <a:ea typeface="Karla" pitchFamily="34" charset="-122"/>
                <a:cs typeface="Karla" pitchFamily="34" charset="-120"/>
              </a:rPr>
              <a:t>Polski model językowy — zoptymalizowany pod kątem języka polskiego i lokalnych zastosowań</a:t>
            </a:r>
            <a:endParaRPr lang="en-US" sz="1094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>
          <a:extLst>
            <a:ext uri="{FF2B5EF4-FFF2-40B4-BE49-F238E27FC236}">
              <a16:creationId xmlns:a16="http://schemas.microsoft.com/office/drawing/2014/main" id="{9C0851B8-82E6-FC11-AE9F-0371B4D7D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6" title="dan-russon-eg0Tija1B_0-unsplash.jpg">
            <a:extLst>
              <a:ext uri="{FF2B5EF4-FFF2-40B4-BE49-F238E27FC236}">
                <a16:creationId xmlns:a16="http://schemas.microsoft.com/office/drawing/2014/main" id="{DE1DE5CE-9401-1AD9-9E47-396799FCB5CE}"/>
              </a:ext>
            </a:extLst>
          </p:cNvPr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12077" r="-11887"/>
          <a:stretch/>
        </p:blipFill>
        <p:spPr>
          <a:xfrm>
            <a:off x="4875300" y="-731275"/>
            <a:ext cx="6484200" cy="64965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96" name="Google Shape;96;p16">
            <a:extLst>
              <a:ext uri="{FF2B5EF4-FFF2-40B4-BE49-F238E27FC236}">
                <a16:creationId xmlns:a16="http://schemas.microsoft.com/office/drawing/2014/main" id="{A59F0555-3692-EAE8-9EDF-FD41FE8C7788}"/>
              </a:ext>
            </a:extLst>
          </p:cNvPr>
          <p:cNvSpPr txBox="1"/>
          <p:nvPr/>
        </p:nvSpPr>
        <p:spPr>
          <a:xfrm>
            <a:off x="505522" y="333082"/>
            <a:ext cx="4369778" cy="3092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rgbClr val="181818"/>
                </a:solidFill>
                <a:latin typeface="Geologica Medium"/>
                <a:ea typeface="Geologica Medium"/>
                <a:cs typeface="Geologica Medium"/>
                <a:sym typeface="Geologica Medium"/>
              </a:rPr>
              <a:t>#</a:t>
            </a:r>
            <a:r>
              <a:rPr lang="en-GB" sz="1600" dirty="0" err="1">
                <a:solidFill>
                  <a:srgbClr val="181818"/>
                </a:solidFill>
                <a:latin typeface="Geologica Medium"/>
                <a:ea typeface="Geologica Medium"/>
                <a:cs typeface="Geologica Medium"/>
                <a:sym typeface="Geologica Medium"/>
              </a:rPr>
              <a:t>SpeakLeash</a:t>
            </a:r>
            <a:r>
              <a:rPr lang="en-GB" sz="1600" dirty="0">
                <a:solidFill>
                  <a:srgbClr val="181818"/>
                </a:solidFill>
                <a:latin typeface="Geologica Medium"/>
                <a:ea typeface="Geologica Medium"/>
                <a:cs typeface="Geologica Medium"/>
                <a:sym typeface="Geologica Medium"/>
              </a:rPr>
              <a:t>/bielik-4.5b-v3.0-instruct:Q8_0"</a:t>
            </a:r>
          </a:p>
          <a:p>
            <a:pPr lvl="0">
              <a:lnSpc>
                <a:spcPct val="115000"/>
              </a:lnSpc>
            </a:pPr>
            <a:endParaRPr lang="en-GB" sz="1600" dirty="0">
              <a:solidFill>
                <a:srgbClr val="181818"/>
              </a:solidFill>
              <a:latin typeface="Geologica Medium"/>
              <a:ea typeface="Geologica Medium"/>
              <a:cs typeface="Geologica Medium"/>
              <a:sym typeface="Geologica Medium"/>
            </a:endParaRPr>
          </a:p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rgbClr val="181818"/>
                </a:solidFill>
                <a:latin typeface="Geologica Medium"/>
                <a:ea typeface="Geologica Medium"/>
                <a:cs typeface="Geologica Medium"/>
                <a:sym typeface="Geologica Medium"/>
              </a:rPr>
              <a:t>#</a:t>
            </a:r>
            <a:r>
              <a:rPr lang="en-GB" sz="1600" dirty="0" err="1">
                <a:solidFill>
                  <a:srgbClr val="181818"/>
                </a:solidFill>
                <a:latin typeface="Geologica Medium"/>
                <a:ea typeface="Geologica Medium"/>
                <a:cs typeface="Geologica Medium"/>
                <a:sym typeface="Geologica Medium"/>
              </a:rPr>
              <a:t>SpeakLeash</a:t>
            </a:r>
            <a:r>
              <a:rPr lang="en-GB" sz="1600" dirty="0">
                <a:solidFill>
                  <a:srgbClr val="181818"/>
                </a:solidFill>
                <a:latin typeface="Geologica Medium"/>
                <a:ea typeface="Geologica Medium"/>
                <a:cs typeface="Geologica Medium"/>
                <a:sym typeface="Geologica Medium"/>
              </a:rPr>
              <a:t>/bielik-11b-v2.3-instruct:Q8_0</a:t>
            </a:r>
          </a:p>
          <a:p>
            <a:pPr lvl="0">
              <a:lnSpc>
                <a:spcPct val="115000"/>
              </a:lnSpc>
            </a:pPr>
            <a:endParaRPr lang="en-GB" sz="1600" dirty="0">
              <a:solidFill>
                <a:srgbClr val="181818"/>
              </a:solidFill>
              <a:latin typeface="Geologica Medium"/>
              <a:ea typeface="Geologica Medium"/>
              <a:cs typeface="Geologica Medium"/>
              <a:sym typeface="Geologica Medium"/>
            </a:endParaRPr>
          </a:p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rgbClr val="181818"/>
                </a:solidFill>
                <a:latin typeface="Geologica Medium"/>
                <a:ea typeface="Geologica Medium"/>
                <a:cs typeface="Geologica Medium"/>
                <a:sym typeface="Geologica Medium"/>
              </a:rPr>
              <a:t>#</a:t>
            </a:r>
            <a:r>
              <a:rPr lang="en-GB" sz="1600" dirty="0" err="1">
                <a:solidFill>
                  <a:srgbClr val="181818"/>
                </a:solidFill>
                <a:latin typeface="Geologica Medium"/>
                <a:ea typeface="Geologica Medium"/>
                <a:cs typeface="Geologica Medium"/>
                <a:sym typeface="Geologica Medium"/>
              </a:rPr>
              <a:t>SpeakLeash</a:t>
            </a:r>
            <a:r>
              <a:rPr lang="en-GB" sz="1600" dirty="0">
                <a:solidFill>
                  <a:srgbClr val="181818"/>
                </a:solidFill>
                <a:latin typeface="Geologica Medium"/>
                <a:ea typeface="Geologica Medium"/>
                <a:cs typeface="Geologica Medium"/>
                <a:sym typeface="Geologica Medium"/>
              </a:rPr>
              <a:t>/bielik-11b-v2.3-instruct:Q6_K</a:t>
            </a:r>
          </a:p>
          <a:p>
            <a:pPr lvl="0">
              <a:lnSpc>
                <a:spcPct val="115000"/>
              </a:lnSpc>
            </a:pPr>
            <a:endParaRPr lang="en-GB" sz="1600" dirty="0">
              <a:solidFill>
                <a:srgbClr val="181818"/>
              </a:solidFill>
              <a:latin typeface="Geologica Medium"/>
              <a:ea typeface="Geologica Medium"/>
              <a:cs typeface="Geologica Medium"/>
              <a:sym typeface="Geologica Medium"/>
            </a:endParaRPr>
          </a:p>
          <a:p>
            <a:pPr lvl="0">
              <a:lnSpc>
                <a:spcPct val="115000"/>
              </a:lnSpc>
            </a:pPr>
            <a:r>
              <a:rPr lang="en-GB" sz="1600" dirty="0">
                <a:solidFill>
                  <a:srgbClr val="181818"/>
                </a:solidFill>
                <a:latin typeface="Geologica Medium"/>
                <a:ea typeface="Geologica Medium"/>
                <a:cs typeface="Geologica Medium"/>
                <a:sym typeface="Geologica Medium"/>
              </a:rPr>
              <a:t>#</a:t>
            </a:r>
            <a:r>
              <a:rPr lang="en-GB" sz="1600" dirty="0" err="1">
                <a:solidFill>
                  <a:srgbClr val="181818"/>
                </a:solidFill>
                <a:latin typeface="Geologica Medium"/>
                <a:ea typeface="Geologica Medium"/>
                <a:cs typeface="Geologica Medium"/>
                <a:sym typeface="Geologica Medium"/>
              </a:rPr>
              <a:t>SpeakLeash</a:t>
            </a:r>
            <a:r>
              <a:rPr lang="en-GB" sz="1600" dirty="0">
                <a:solidFill>
                  <a:srgbClr val="181818"/>
                </a:solidFill>
                <a:latin typeface="Geologica Medium"/>
                <a:ea typeface="Geologica Medium"/>
                <a:cs typeface="Geologica Medium"/>
                <a:sym typeface="Geologica Medium"/>
              </a:rPr>
              <a:t>/bielik-11b-v2.3-instruct:Q4_K_M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39C8E2-0FB4-0137-AC02-3E9AA7631269}"/>
              </a:ext>
            </a:extLst>
          </p:cNvPr>
          <p:cNvSpPr txBox="1"/>
          <p:nvPr/>
        </p:nvSpPr>
        <p:spPr>
          <a:xfrm>
            <a:off x="309770" y="3860002"/>
            <a:ext cx="5681868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100" dirty="0"/>
              <a:t>4.5b / 11b - rozmiar modelu (4.5 miliarda / 11 miliardów parametrów)</a:t>
            </a:r>
          </a:p>
          <a:p>
            <a:r>
              <a:rPr lang="pl-PL" sz="1100" dirty="0"/>
              <a:t>v2.3 / v3.0 - wersja modelu</a:t>
            </a:r>
            <a:br>
              <a:rPr lang="pl-PL" sz="1100" dirty="0"/>
            </a:br>
            <a:endParaRPr lang="pl-PL" sz="1100" dirty="0"/>
          </a:p>
          <a:p>
            <a:r>
              <a:rPr lang="pl-PL" sz="1100" dirty="0"/>
              <a:t>Q8_0 - 8-bitowa kwantyzacja (najwyższa jakość, największy rozmiar)</a:t>
            </a:r>
          </a:p>
          <a:p>
            <a:r>
              <a:rPr lang="pl-PL" sz="1100" dirty="0"/>
              <a:t>Q6_K - 6-bitowa kwantyzacja (średnia jakość i rozmiar)</a:t>
            </a:r>
          </a:p>
          <a:p>
            <a:r>
              <a:rPr lang="pl-PL" sz="1100" dirty="0"/>
              <a:t>Q4_K_M - 4-bitowa kwantyzacja, wariant "medium" (niższa jakość, najmniejszy rozmiar)</a:t>
            </a:r>
          </a:p>
        </p:txBody>
      </p:sp>
    </p:spTree>
    <p:extLst>
      <p:ext uri="{BB962C8B-B14F-4D97-AF65-F5344CB8AC3E}">
        <p14:creationId xmlns:p14="http://schemas.microsoft.com/office/powerpoint/2010/main" val="42031868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EA84E-1DB6-D44E-86E9-D78CDD704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E4ABB-B1B7-8410-6C29-B1C9A4FC9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pl-PL" dirty="0"/>
              <a:t>RAG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2B68EA-C014-DAA4-1DA2-DD3264381634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311700" y="1208225"/>
            <a:ext cx="4823517" cy="3264408"/>
          </a:xfrm>
        </p:spPr>
        <p:txBody>
          <a:bodyPr anchor="t">
            <a:normAutofit/>
          </a:bodyPr>
          <a:lstStyle/>
          <a:p>
            <a:pPr marL="114300" indent="0">
              <a:spcAft>
                <a:spcPts val="600"/>
              </a:spcAft>
              <a:buClr>
                <a:srgbClr val="000000"/>
              </a:buClr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</a:rPr>
              <a:t>Model </a:t>
            </a:r>
            <a:r>
              <a:rPr lang="en-US" sz="2000" b="0" i="0" u="none" strike="noStrike" cap="none" dirty="0" err="1">
                <a:solidFill>
                  <a:schemeClr val="dk1"/>
                </a:solidFill>
              </a:rPr>
              <a:t>nie</a:t>
            </a:r>
            <a:r>
              <a:rPr lang="en-US" sz="2000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sz="2000" b="0" i="0" u="none" strike="noStrike" cap="none" dirty="0" err="1">
                <a:solidFill>
                  <a:schemeClr val="dk1"/>
                </a:solidFill>
              </a:rPr>
              <a:t>zmienia</a:t>
            </a:r>
            <a:r>
              <a:rPr lang="en-US" sz="2000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sz="2000" b="0" i="0" u="none" strike="noStrike" cap="none" dirty="0" err="1">
                <a:solidFill>
                  <a:schemeClr val="dk1"/>
                </a:solidFill>
              </a:rPr>
              <a:t>swoich</a:t>
            </a:r>
            <a:r>
              <a:rPr lang="en-US" sz="2000" b="0" i="0" u="none" strike="noStrike" cap="none" dirty="0">
                <a:solidFill>
                  <a:schemeClr val="dk1"/>
                </a:solidFill>
              </a:rPr>
              <a:t> wag.</a:t>
            </a:r>
          </a:p>
          <a:p>
            <a:pPr marL="114300" indent="0">
              <a:spcAft>
                <a:spcPts val="600"/>
              </a:spcAft>
              <a:buClr>
                <a:srgbClr val="000000"/>
              </a:buClr>
              <a:buFont typeface="Arial"/>
              <a:buNone/>
            </a:pPr>
            <a:r>
              <a:rPr lang="en-US" sz="2000" b="0" i="0" u="none" strike="noStrike" cap="none" dirty="0" err="1">
                <a:solidFill>
                  <a:schemeClr val="dk1"/>
                </a:solidFill>
              </a:rPr>
              <a:t>Zamiast</a:t>
            </a:r>
            <a:r>
              <a:rPr lang="en-US" sz="2000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sz="2000" b="0" i="0" u="none" strike="noStrike" cap="none" dirty="0" err="1">
                <a:solidFill>
                  <a:schemeClr val="dk1"/>
                </a:solidFill>
              </a:rPr>
              <a:t>tego</a:t>
            </a:r>
            <a:r>
              <a:rPr lang="en-US" sz="2000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sz="2000" b="0" i="0" u="none" strike="noStrike" cap="none" dirty="0" err="1">
                <a:solidFill>
                  <a:schemeClr val="dk1"/>
                </a:solidFill>
              </a:rPr>
              <a:t>podczas</a:t>
            </a:r>
            <a:r>
              <a:rPr lang="en-US" sz="2000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sz="2000" b="0" i="0" u="none" strike="noStrike" cap="none" dirty="0" err="1">
                <a:solidFill>
                  <a:schemeClr val="dk1"/>
                </a:solidFill>
              </a:rPr>
              <a:t>działania</a:t>
            </a:r>
            <a:r>
              <a:rPr lang="en-US" sz="2000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sz="2000" b="0" i="0" u="none" strike="noStrike" cap="none" dirty="0" err="1">
                <a:solidFill>
                  <a:schemeClr val="dk1"/>
                </a:solidFill>
              </a:rPr>
              <a:t>dociąga</a:t>
            </a:r>
            <a:r>
              <a:rPr lang="en-US" sz="2000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sz="2000" b="0" i="0" u="none" strike="noStrike" cap="none" dirty="0" err="1">
                <a:solidFill>
                  <a:schemeClr val="dk1"/>
                </a:solidFill>
              </a:rPr>
              <a:t>zewnętrzne</a:t>
            </a:r>
            <a:r>
              <a:rPr lang="en-US" sz="2000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sz="2000" b="0" i="0" u="none" strike="noStrike" cap="none" dirty="0" err="1">
                <a:solidFill>
                  <a:schemeClr val="dk1"/>
                </a:solidFill>
              </a:rPr>
              <a:t>dane</a:t>
            </a:r>
            <a:r>
              <a:rPr lang="en-US" sz="2000" b="0" i="0" u="none" strike="noStrike" cap="none" dirty="0">
                <a:solidFill>
                  <a:schemeClr val="dk1"/>
                </a:solidFill>
              </a:rPr>
              <a:t> (</a:t>
            </a:r>
            <a:r>
              <a:rPr lang="en-US" sz="2000" b="0" i="0" u="none" strike="noStrike" cap="none" dirty="0" err="1">
                <a:solidFill>
                  <a:schemeClr val="dk1"/>
                </a:solidFill>
              </a:rPr>
              <a:t>dokumenty</a:t>
            </a:r>
            <a:r>
              <a:rPr lang="en-US" sz="2000" b="0" i="0" u="none" strike="noStrike" cap="none" dirty="0">
                <a:solidFill>
                  <a:schemeClr val="dk1"/>
                </a:solidFill>
              </a:rPr>
              <a:t>, </a:t>
            </a:r>
            <a:r>
              <a:rPr lang="en-US" sz="2000" b="0" i="0" u="none" strike="noStrike" cap="none" dirty="0" err="1">
                <a:solidFill>
                  <a:schemeClr val="dk1"/>
                </a:solidFill>
              </a:rPr>
              <a:t>bazę</a:t>
            </a:r>
            <a:r>
              <a:rPr lang="en-US" sz="2000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sz="2000" b="0" i="0" u="none" strike="noStrike" cap="none" dirty="0" err="1">
                <a:solidFill>
                  <a:schemeClr val="dk1"/>
                </a:solidFill>
              </a:rPr>
              <a:t>wiedzy</a:t>
            </a:r>
            <a:r>
              <a:rPr lang="en-US" sz="2000" b="0" i="0" u="none" strike="noStrike" cap="none" dirty="0">
                <a:solidFill>
                  <a:schemeClr val="dk1"/>
                </a:solidFill>
              </a:rPr>
              <a:t>, </a:t>
            </a:r>
            <a:r>
              <a:rPr lang="en-US" sz="2000" b="0" i="0" u="none" strike="noStrike" cap="none" dirty="0" err="1">
                <a:solidFill>
                  <a:schemeClr val="dk1"/>
                </a:solidFill>
              </a:rPr>
              <a:t>pliki</a:t>
            </a:r>
            <a:r>
              <a:rPr lang="en-US" sz="2000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sz="2000" b="0" i="0" u="none" strike="noStrike" cap="none" dirty="0" err="1">
                <a:solidFill>
                  <a:schemeClr val="dk1"/>
                </a:solidFill>
              </a:rPr>
              <a:t>firmowe</a:t>
            </a:r>
            <a:r>
              <a:rPr lang="en-US" sz="2000" b="0" i="0" u="none" strike="noStrike" cap="none" dirty="0">
                <a:solidFill>
                  <a:schemeClr val="dk1"/>
                </a:solidFill>
              </a:rPr>
              <a:t>) </a:t>
            </a:r>
            <a:r>
              <a:rPr lang="en-US" sz="2000" b="0" i="0" u="none" strike="noStrike" cap="none" dirty="0" err="1">
                <a:solidFill>
                  <a:schemeClr val="dk1"/>
                </a:solidFill>
              </a:rPr>
              <a:t>i</a:t>
            </a:r>
            <a:r>
              <a:rPr lang="en-US" sz="2000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sz="2000" b="0" i="0" u="none" strike="noStrike" cap="none" dirty="0" err="1">
                <a:solidFill>
                  <a:schemeClr val="dk1"/>
                </a:solidFill>
              </a:rPr>
              <a:t>na</a:t>
            </a:r>
            <a:r>
              <a:rPr lang="en-US" sz="2000" b="0" i="0" u="none" strike="noStrike" cap="none" dirty="0">
                <a:solidFill>
                  <a:schemeClr val="dk1"/>
                </a:solidFill>
              </a:rPr>
              <a:t> ich </a:t>
            </a:r>
            <a:r>
              <a:rPr lang="en-US" sz="2000" b="0" i="0" u="none" strike="noStrike" cap="none" dirty="0" err="1">
                <a:solidFill>
                  <a:schemeClr val="dk1"/>
                </a:solidFill>
              </a:rPr>
              <a:t>podstawie</a:t>
            </a:r>
            <a:r>
              <a:rPr lang="en-US" sz="2000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sz="2000" b="0" i="0" u="none" strike="noStrike" cap="none" dirty="0" err="1">
                <a:solidFill>
                  <a:schemeClr val="dk1"/>
                </a:solidFill>
              </a:rPr>
              <a:t>generuje</a:t>
            </a:r>
            <a:r>
              <a:rPr lang="en-US" sz="2000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sz="2000" b="0" i="0" u="none" strike="noStrike" cap="none" dirty="0" err="1">
                <a:solidFill>
                  <a:schemeClr val="dk1"/>
                </a:solidFill>
              </a:rPr>
              <a:t>odpowiedź</a:t>
            </a:r>
            <a:r>
              <a:rPr lang="en-US" sz="2000" b="0" i="0" u="none" strike="noStrike" cap="none" dirty="0">
                <a:solidFill>
                  <a:schemeClr val="dk1"/>
                </a:solidFill>
              </a:rPr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738B7C-5686-C660-D89C-361379DD8A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5217" y="445025"/>
            <a:ext cx="3692071" cy="3867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6841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C00E7-F3EB-481C-D1F1-F7719F776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0ABF6-61C3-A626-F816-9CEDE18F0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pl-PL" dirty="0"/>
              <a:t>AGENT AI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460FEE-9357-53FD-F95A-399E6AA9DB0F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371955" y="1017725"/>
            <a:ext cx="3094440" cy="3725588"/>
          </a:xfrm>
        </p:spPr>
        <p:txBody>
          <a:bodyPr anchor="t">
            <a:normAutofit fontScale="77500" lnSpcReduction="20000"/>
          </a:bodyPr>
          <a:lstStyle/>
          <a:p>
            <a:pPr marL="114300" indent="0">
              <a:buNone/>
            </a:pPr>
            <a:r>
              <a:rPr lang="en-GB" sz="1600" b="1" dirty="0">
                <a:solidFill>
                  <a:schemeClr val="tx1"/>
                </a:solidFill>
              </a:rPr>
              <a:t>Agent:</a:t>
            </a:r>
            <a:r>
              <a:rPr lang="en-GB" sz="1600" dirty="0">
                <a:solidFill>
                  <a:schemeClr val="tx1"/>
                </a:solidFill>
              </a:rPr>
              <a:t> </a:t>
            </a:r>
            <a:r>
              <a:rPr lang="en-GB" sz="1600" dirty="0" err="1">
                <a:solidFill>
                  <a:schemeClr val="tx1"/>
                </a:solidFill>
              </a:rPr>
              <a:t>Wykonuje</a:t>
            </a:r>
            <a:r>
              <a:rPr lang="en-GB" sz="1600" dirty="0">
                <a:solidFill>
                  <a:schemeClr val="tx1"/>
                </a:solidFill>
              </a:rPr>
              <a:t> </a:t>
            </a:r>
            <a:r>
              <a:rPr lang="en-GB" sz="1600" dirty="0" err="1">
                <a:solidFill>
                  <a:schemeClr val="tx1"/>
                </a:solidFill>
              </a:rPr>
              <a:t>zadania</a:t>
            </a:r>
            <a:r>
              <a:rPr lang="en-GB" sz="1600" dirty="0">
                <a:solidFill>
                  <a:schemeClr val="tx1"/>
                </a:solidFill>
              </a:rPr>
              <a:t> </a:t>
            </a:r>
            <a:r>
              <a:rPr lang="en-GB" sz="1600" dirty="0" err="1">
                <a:solidFill>
                  <a:schemeClr val="tx1"/>
                </a:solidFill>
              </a:rPr>
              <a:t>i</a:t>
            </a:r>
            <a:r>
              <a:rPr lang="en-GB" sz="1600" dirty="0">
                <a:solidFill>
                  <a:schemeClr val="tx1"/>
                </a:solidFill>
              </a:rPr>
              <a:t> </a:t>
            </a:r>
            <a:r>
              <a:rPr lang="en-GB" sz="1600" dirty="0" err="1">
                <a:solidFill>
                  <a:schemeClr val="tx1"/>
                </a:solidFill>
              </a:rPr>
              <a:t>osiąga</a:t>
            </a:r>
            <a:r>
              <a:rPr lang="en-GB" sz="1600" dirty="0">
                <a:solidFill>
                  <a:schemeClr val="tx1"/>
                </a:solidFill>
              </a:rPr>
              <a:t> </a:t>
            </a:r>
            <a:r>
              <a:rPr lang="en-GB" sz="1600" dirty="0" err="1">
                <a:solidFill>
                  <a:schemeClr val="tx1"/>
                </a:solidFill>
              </a:rPr>
              <a:t>cele</a:t>
            </a:r>
            <a:r>
              <a:rPr lang="en-GB" sz="1600" dirty="0">
                <a:solidFill>
                  <a:schemeClr val="tx1"/>
                </a:solidFill>
              </a:rPr>
              <a:t>.</a:t>
            </a:r>
            <a:r>
              <a:rPr lang="pl-PL" sz="1600" dirty="0">
                <a:solidFill>
                  <a:schemeClr val="tx1"/>
                </a:solidFill>
              </a:rPr>
              <a:t> Dzięki Tools, czyli narzędziom</a:t>
            </a:r>
            <a:endParaRPr lang="en-GB" sz="1600" dirty="0">
              <a:solidFill>
                <a:schemeClr val="tx1"/>
              </a:solidFill>
            </a:endParaRPr>
          </a:p>
          <a:p>
            <a:endParaRPr lang="en-GB" sz="1600" dirty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en-GB" b="1" dirty="0" err="1">
                <a:solidFill>
                  <a:schemeClr val="tx1"/>
                </a:solidFill>
              </a:rPr>
              <a:t>Przykłady</a:t>
            </a:r>
            <a:r>
              <a:rPr lang="en-GB" b="1" dirty="0">
                <a:solidFill>
                  <a:schemeClr val="tx1"/>
                </a:solidFill>
              </a:rPr>
              <a:t>:</a:t>
            </a:r>
          </a:p>
          <a:p>
            <a:pPr marL="114300" indent="0">
              <a:buNone/>
            </a:pPr>
            <a:endParaRPr lang="en-GB" sz="1600" b="1" dirty="0">
              <a:solidFill>
                <a:schemeClr val="tx1"/>
              </a:solidFill>
            </a:endParaRPr>
          </a:p>
          <a:p>
            <a:r>
              <a:rPr lang="en-GB" sz="1600" b="1" dirty="0">
                <a:solidFill>
                  <a:schemeClr val="tx1"/>
                </a:solidFill>
              </a:rPr>
              <a:t>Agent </a:t>
            </a:r>
            <a:r>
              <a:rPr lang="en-GB" sz="1600" b="1" dirty="0" err="1">
                <a:solidFill>
                  <a:schemeClr val="tx1"/>
                </a:solidFill>
              </a:rPr>
              <a:t>rezerwacyjny</a:t>
            </a:r>
            <a:r>
              <a:rPr lang="en-GB" sz="1600" dirty="0">
                <a:solidFill>
                  <a:schemeClr val="tx1"/>
                </a:solidFill>
              </a:rPr>
              <a:t> - </a:t>
            </a:r>
            <a:r>
              <a:rPr lang="en-GB" sz="1600" dirty="0" err="1">
                <a:solidFill>
                  <a:schemeClr val="tx1"/>
                </a:solidFill>
              </a:rPr>
              <a:t>sam</a:t>
            </a:r>
            <a:r>
              <a:rPr lang="en-GB" sz="1600" dirty="0">
                <a:solidFill>
                  <a:schemeClr val="tx1"/>
                </a:solidFill>
              </a:rPr>
              <a:t> </a:t>
            </a:r>
            <a:r>
              <a:rPr lang="en-GB" sz="1600" dirty="0" err="1">
                <a:solidFill>
                  <a:schemeClr val="tx1"/>
                </a:solidFill>
              </a:rPr>
              <a:t>szuka</a:t>
            </a:r>
            <a:r>
              <a:rPr lang="en-GB" sz="1600" dirty="0">
                <a:solidFill>
                  <a:schemeClr val="tx1"/>
                </a:solidFill>
              </a:rPr>
              <a:t> </a:t>
            </a:r>
            <a:r>
              <a:rPr lang="en-GB" sz="1600" dirty="0" err="1">
                <a:solidFill>
                  <a:schemeClr val="tx1"/>
                </a:solidFill>
              </a:rPr>
              <a:t>lotów</a:t>
            </a:r>
            <a:r>
              <a:rPr lang="en-GB" sz="1600" dirty="0">
                <a:solidFill>
                  <a:schemeClr val="tx1"/>
                </a:solidFill>
              </a:rPr>
              <a:t>, </a:t>
            </a:r>
            <a:r>
              <a:rPr lang="en-GB" sz="1600" dirty="0" err="1">
                <a:solidFill>
                  <a:schemeClr val="tx1"/>
                </a:solidFill>
              </a:rPr>
              <a:t>porównuje</a:t>
            </a:r>
            <a:r>
              <a:rPr lang="en-GB" sz="1600" dirty="0">
                <a:solidFill>
                  <a:schemeClr val="tx1"/>
                </a:solidFill>
              </a:rPr>
              <a:t> </a:t>
            </a:r>
            <a:r>
              <a:rPr lang="en-GB" sz="1600" dirty="0" err="1">
                <a:solidFill>
                  <a:schemeClr val="tx1"/>
                </a:solidFill>
              </a:rPr>
              <a:t>ceny</a:t>
            </a:r>
            <a:r>
              <a:rPr lang="en-GB" sz="1600" dirty="0">
                <a:solidFill>
                  <a:schemeClr val="tx1"/>
                </a:solidFill>
              </a:rPr>
              <a:t>, </a:t>
            </a:r>
            <a:r>
              <a:rPr lang="en-GB" sz="1600" dirty="0" err="1">
                <a:solidFill>
                  <a:schemeClr val="tx1"/>
                </a:solidFill>
              </a:rPr>
              <a:t>rezerwuje</a:t>
            </a:r>
            <a:r>
              <a:rPr lang="en-GB" sz="1600" dirty="0">
                <a:solidFill>
                  <a:schemeClr val="tx1"/>
                </a:solidFill>
              </a:rPr>
              <a:t> </a:t>
            </a:r>
            <a:r>
              <a:rPr lang="en-GB" sz="1600" dirty="0" err="1">
                <a:solidFill>
                  <a:schemeClr val="tx1"/>
                </a:solidFill>
              </a:rPr>
              <a:t>bilet</a:t>
            </a:r>
            <a:endParaRPr lang="en-GB" sz="1600" dirty="0">
              <a:solidFill>
                <a:schemeClr val="tx1"/>
              </a:solidFill>
            </a:endParaRPr>
          </a:p>
          <a:p>
            <a:endParaRPr lang="en-GB" sz="1600" b="1" dirty="0">
              <a:solidFill>
                <a:schemeClr val="tx1"/>
              </a:solidFill>
            </a:endParaRPr>
          </a:p>
          <a:p>
            <a:r>
              <a:rPr lang="en-GB" sz="1600" b="1" dirty="0">
                <a:solidFill>
                  <a:schemeClr val="tx1"/>
                </a:solidFill>
              </a:rPr>
              <a:t>Agent </a:t>
            </a:r>
            <a:r>
              <a:rPr lang="en-GB" sz="1600" b="1" dirty="0" err="1">
                <a:solidFill>
                  <a:schemeClr val="tx1"/>
                </a:solidFill>
              </a:rPr>
              <a:t>analityczny</a:t>
            </a:r>
            <a:r>
              <a:rPr lang="en-GB" sz="1600" dirty="0">
                <a:solidFill>
                  <a:schemeClr val="tx1"/>
                </a:solidFill>
              </a:rPr>
              <a:t> - </a:t>
            </a:r>
            <a:r>
              <a:rPr lang="en-GB" sz="1600" dirty="0" err="1">
                <a:solidFill>
                  <a:schemeClr val="tx1"/>
                </a:solidFill>
              </a:rPr>
              <a:t>pobiera</a:t>
            </a:r>
            <a:r>
              <a:rPr lang="en-GB" sz="1600" dirty="0">
                <a:solidFill>
                  <a:schemeClr val="tx1"/>
                </a:solidFill>
              </a:rPr>
              <a:t> </a:t>
            </a:r>
            <a:r>
              <a:rPr lang="en-GB" sz="1600" dirty="0" err="1">
                <a:solidFill>
                  <a:schemeClr val="tx1"/>
                </a:solidFill>
              </a:rPr>
              <a:t>dane</a:t>
            </a:r>
            <a:r>
              <a:rPr lang="en-GB" sz="1600" dirty="0">
                <a:solidFill>
                  <a:schemeClr val="tx1"/>
                </a:solidFill>
              </a:rPr>
              <a:t>, </a:t>
            </a:r>
            <a:r>
              <a:rPr lang="en-GB" sz="1600" dirty="0" err="1">
                <a:solidFill>
                  <a:schemeClr val="tx1"/>
                </a:solidFill>
              </a:rPr>
              <a:t>analizuje</a:t>
            </a:r>
            <a:r>
              <a:rPr lang="en-GB" sz="1600" dirty="0">
                <a:solidFill>
                  <a:schemeClr val="tx1"/>
                </a:solidFill>
              </a:rPr>
              <a:t>, </a:t>
            </a:r>
            <a:r>
              <a:rPr lang="en-GB" sz="1600" dirty="0" err="1">
                <a:solidFill>
                  <a:schemeClr val="tx1"/>
                </a:solidFill>
              </a:rPr>
              <a:t>tworzy</a:t>
            </a:r>
            <a:r>
              <a:rPr lang="en-GB" sz="1600" dirty="0">
                <a:solidFill>
                  <a:schemeClr val="tx1"/>
                </a:solidFill>
              </a:rPr>
              <a:t> </a:t>
            </a:r>
            <a:r>
              <a:rPr lang="en-GB" sz="1600" dirty="0" err="1">
                <a:solidFill>
                  <a:schemeClr val="tx1"/>
                </a:solidFill>
              </a:rPr>
              <a:t>raport</a:t>
            </a:r>
            <a:endParaRPr lang="en-GB" sz="1600" dirty="0">
              <a:solidFill>
                <a:schemeClr val="tx1"/>
              </a:solidFill>
            </a:endParaRP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b="1" dirty="0">
                <a:solidFill>
                  <a:schemeClr val="tx1"/>
                </a:solidFill>
              </a:rPr>
              <a:t>Agent </a:t>
            </a:r>
            <a:r>
              <a:rPr lang="en-GB" sz="1600" b="1" dirty="0" err="1">
                <a:solidFill>
                  <a:schemeClr val="tx1"/>
                </a:solidFill>
              </a:rPr>
              <a:t>kodujący</a:t>
            </a:r>
            <a:r>
              <a:rPr lang="en-GB" sz="1600" dirty="0">
                <a:solidFill>
                  <a:schemeClr val="tx1"/>
                </a:solidFill>
              </a:rPr>
              <a:t> - </a:t>
            </a:r>
            <a:r>
              <a:rPr lang="en-GB" sz="1600" dirty="0" err="1">
                <a:solidFill>
                  <a:schemeClr val="tx1"/>
                </a:solidFill>
              </a:rPr>
              <a:t>pisze</a:t>
            </a:r>
            <a:r>
              <a:rPr lang="en-GB" sz="1600" dirty="0">
                <a:solidFill>
                  <a:schemeClr val="tx1"/>
                </a:solidFill>
              </a:rPr>
              <a:t> </a:t>
            </a:r>
            <a:r>
              <a:rPr lang="en-GB" sz="1600" dirty="0" err="1">
                <a:solidFill>
                  <a:schemeClr val="tx1"/>
                </a:solidFill>
              </a:rPr>
              <a:t>kod</a:t>
            </a:r>
            <a:r>
              <a:rPr lang="en-GB" sz="1600" dirty="0">
                <a:solidFill>
                  <a:schemeClr val="tx1"/>
                </a:solidFill>
              </a:rPr>
              <a:t>, </a:t>
            </a:r>
            <a:r>
              <a:rPr lang="en-GB" sz="1600" dirty="0" err="1">
                <a:solidFill>
                  <a:schemeClr val="tx1"/>
                </a:solidFill>
              </a:rPr>
              <a:t>testuje</a:t>
            </a:r>
            <a:r>
              <a:rPr lang="en-GB" sz="1600" dirty="0">
                <a:solidFill>
                  <a:schemeClr val="tx1"/>
                </a:solidFill>
              </a:rPr>
              <a:t>, </a:t>
            </a:r>
            <a:r>
              <a:rPr lang="en-GB" sz="1600" dirty="0" err="1">
                <a:solidFill>
                  <a:schemeClr val="tx1"/>
                </a:solidFill>
              </a:rPr>
              <a:t>poprawia</a:t>
            </a:r>
            <a:r>
              <a:rPr lang="en-GB" sz="1600" dirty="0">
                <a:solidFill>
                  <a:schemeClr val="tx1"/>
                </a:solidFill>
              </a:rPr>
              <a:t> </a:t>
            </a:r>
            <a:r>
              <a:rPr lang="en-GB" sz="1600" dirty="0" err="1">
                <a:solidFill>
                  <a:schemeClr val="tx1"/>
                </a:solidFill>
              </a:rPr>
              <a:t>błędy</a:t>
            </a:r>
            <a:endParaRPr lang="en-GB" sz="1600" dirty="0">
              <a:solidFill>
                <a:schemeClr val="tx1"/>
              </a:solidFill>
            </a:endParaRPr>
          </a:p>
          <a:p>
            <a:endParaRPr lang="en-GB" sz="1600" b="1" dirty="0">
              <a:solidFill>
                <a:schemeClr val="tx1"/>
              </a:solidFill>
            </a:endParaRPr>
          </a:p>
          <a:p>
            <a:r>
              <a:rPr lang="en-GB" sz="1600" b="1" dirty="0">
                <a:solidFill>
                  <a:schemeClr val="tx1"/>
                </a:solidFill>
              </a:rPr>
              <a:t>Agent </a:t>
            </a:r>
            <a:r>
              <a:rPr lang="en-GB" sz="1600" b="1" dirty="0" err="1">
                <a:solidFill>
                  <a:schemeClr val="tx1"/>
                </a:solidFill>
              </a:rPr>
              <a:t>osobisty</a:t>
            </a:r>
            <a:r>
              <a:rPr lang="en-GB" sz="1600" dirty="0">
                <a:solidFill>
                  <a:schemeClr val="tx1"/>
                </a:solidFill>
              </a:rPr>
              <a:t> - </a:t>
            </a:r>
            <a:r>
              <a:rPr lang="en-GB" sz="1600" dirty="0" err="1">
                <a:solidFill>
                  <a:schemeClr val="tx1"/>
                </a:solidFill>
              </a:rPr>
              <a:t>zarządza</a:t>
            </a:r>
            <a:r>
              <a:rPr lang="en-GB" sz="1600" dirty="0">
                <a:solidFill>
                  <a:schemeClr val="tx1"/>
                </a:solidFill>
              </a:rPr>
              <a:t> </a:t>
            </a:r>
            <a:r>
              <a:rPr lang="en-GB" sz="1600" dirty="0" err="1">
                <a:solidFill>
                  <a:schemeClr val="tx1"/>
                </a:solidFill>
              </a:rPr>
              <a:t>kalendarzem</a:t>
            </a:r>
            <a:r>
              <a:rPr lang="en-GB" sz="1600" dirty="0">
                <a:solidFill>
                  <a:schemeClr val="tx1"/>
                </a:solidFill>
              </a:rPr>
              <a:t>, </a:t>
            </a:r>
            <a:r>
              <a:rPr lang="en-GB" sz="1600" dirty="0" err="1">
                <a:solidFill>
                  <a:schemeClr val="tx1"/>
                </a:solidFill>
              </a:rPr>
              <a:t>mailami</a:t>
            </a:r>
            <a:r>
              <a:rPr lang="en-GB" sz="1600" dirty="0">
                <a:solidFill>
                  <a:schemeClr val="tx1"/>
                </a:solidFill>
              </a:rPr>
              <a:t>, </a:t>
            </a:r>
            <a:r>
              <a:rPr lang="en-GB" sz="1600" dirty="0" err="1">
                <a:solidFill>
                  <a:schemeClr val="tx1"/>
                </a:solidFill>
              </a:rPr>
              <a:t>przypomnieniami</a:t>
            </a:r>
            <a:endParaRPr lang="en-GB" sz="1600" dirty="0">
              <a:solidFill>
                <a:schemeClr val="tx1"/>
              </a:solidFill>
              <a:effectLst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9CA873-200C-F850-F1D7-517DED424A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1807" y="1752744"/>
            <a:ext cx="5110238" cy="2164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3816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31428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pl-PL" sz="2400" dirty="0" err="1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Tooling</a:t>
            </a:r>
            <a:r>
              <a:rPr lang="en-US" sz="24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 AI </a:t>
            </a:r>
            <a:endParaRPr lang="en-US" sz="2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3816" y="1573325"/>
            <a:ext cx="434132" cy="4341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13816" y="2162461"/>
            <a:ext cx="399834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Wyszukiwanie z AI</a:t>
            </a:r>
            <a:endParaRPr lang="en-US" sz="12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67162" y="1573325"/>
            <a:ext cx="434132" cy="43413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367162" y="2162461"/>
            <a:ext cx="399841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Generowanie obrazów</a:t>
            </a:r>
            <a:endParaRPr lang="en-US" sz="12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13816" y="2604332"/>
            <a:ext cx="434132" cy="43413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213816" y="3193468"/>
            <a:ext cx="399834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Generowanie mowy/głosu</a:t>
            </a:r>
            <a:endParaRPr lang="en-US" sz="12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67162" y="2604332"/>
            <a:ext cx="434132" cy="434132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5367162" y="3193468"/>
            <a:ext cx="399841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Prezentacje/dokumenty</a:t>
            </a:r>
            <a:endParaRPr lang="en-US" sz="12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13816" y="3635339"/>
            <a:ext cx="434132" cy="434132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213816" y="4224475"/>
            <a:ext cx="399834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Pomoc w kodowaniu</a:t>
            </a:r>
            <a:endParaRPr lang="en-US" sz="120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67162" y="3635339"/>
            <a:ext cx="434132" cy="434132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5367162" y="4224475"/>
            <a:ext cx="399841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Automatyzacja bez kodu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45753-8FA2-1EE9-01E4-149DEF649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Gemini AI pomoże zreformować Siri • Wszystko co najważniejsze">
            <a:extLst>
              <a:ext uri="{FF2B5EF4-FFF2-40B4-BE49-F238E27FC236}">
                <a16:creationId xmlns:a16="http://schemas.microsoft.com/office/drawing/2014/main" id="{CA4EFD7B-F5CC-0EA1-331A-7499BFDDB0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58310" y="-779508"/>
            <a:ext cx="6427379" cy="3609420"/>
          </a:xfrm>
          <a:prstGeom prst="rect">
            <a:avLst/>
          </a:prstGeom>
        </p:spPr>
      </p:pic>
      <p:pic>
        <p:nvPicPr>
          <p:cNvPr id="16" name="Picture 15" descr="ChatGPT – Wikipedia, wolna encyklopedia">
            <a:extLst>
              <a:ext uri="{FF2B5EF4-FFF2-40B4-BE49-F238E27FC236}">
                <a16:creationId xmlns:a16="http://schemas.microsoft.com/office/drawing/2014/main" id="{E2773195-C8AE-CF44-D466-5D5074AD11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60787" y="1842090"/>
            <a:ext cx="1807536" cy="1807536"/>
          </a:xfrm>
          <a:prstGeom prst="rect">
            <a:avLst/>
          </a:prstGeom>
        </p:spPr>
      </p:pic>
      <p:pic>
        <p:nvPicPr>
          <p:cNvPr id="17" name="Picture 16" descr="Claude Darmowe pobrania SVG, PNG i w... · LobeHub">
            <a:extLst>
              <a:ext uri="{FF2B5EF4-FFF2-40B4-BE49-F238E27FC236}">
                <a16:creationId xmlns:a16="http://schemas.microsoft.com/office/drawing/2014/main" id="{3A6DA3A2-E663-052B-53E3-DCC90181E7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9594" y="1933797"/>
            <a:ext cx="1447191" cy="1447191"/>
          </a:xfrm>
          <a:prstGeom prst="rect">
            <a:avLst/>
          </a:prstGeom>
        </p:spPr>
      </p:pic>
      <p:pic>
        <p:nvPicPr>
          <p:cNvPr id="18" name="Picture 17" descr="Perplexity Model Logo - Download on Writingmate">
            <a:extLst>
              <a:ext uri="{FF2B5EF4-FFF2-40B4-BE49-F238E27FC236}">
                <a16:creationId xmlns:a16="http://schemas.microsoft.com/office/drawing/2014/main" id="{E8AD079E-1F93-9DBD-783E-56C6DC9B62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28853" y="3248247"/>
            <a:ext cx="1609154" cy="1609154"/>
          </a:xfrm>
          <a:prstGeom prst="rect">
            <a:avLst/>
          </a:prstGeom>
        </p:spPr>
      </p:pic>
      <p:sp>
        <p:nvSpPr>
          <p:cNvPr id="20" name="Text 0">
            <a:extLst>
              <a:ext uri="{FF2B5EF4-FFF2-40B4-BE49-F238E27FC236}">
                <a16:creationId xmlns:a16="http://schemas.microsoft.com/office/drawing/2014/main" id="{8A8F1408-C580-F0A2-71A7-C2793DCE218A}"/>
              </a:ext>
            </a:extLst>
          </p:cNvPr>
          <p:cNvSpPr/>
          <p:nvPr/>
        </p:nvSpPr>
        <p:spPr>
          <a:xfrm>
            <a:off x="496119" y="831428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pl-PL" sz="24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Systemy AI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6020961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20" y="662375"/>
            <a:ext cx="7526146" cy="5697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58230" y="766852"/>
            <a:ext cx="7003041" cy="148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8:00 – </a:t>
            </a:r>
            <a:r>
              <a:rPr lang="pl-PL" sz="1100" dirty="0"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8</a:t>
            </a:r>
            <a:r>
              <a:rPr lang="en-US" sz="11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:</a:t>
            </a:r>
            <a:r>
              <a:rPr lang="pl-PL" sz="11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45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958230" y="958766"/>
            <a:ext cx="7003041" cy="13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pl-PL" sz="900" dirty="0">
                <a:latin typeface="Karla Bold" charset="0"/>
              </a:rPr>
              <a:t>Organizacja  i podpisy </a:t>
            </a:r>
            <a:endParaRPr lang="en-US" sz="900" dirty="0">
              <a:latin typeface="Karla Bold" charset="0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20" y="1921555"/>
            <a:ext cx="7526146" cy="56978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58230" y="2026032"/>
            <a:ext cx="7003041" cy="148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pl-PL" sz="11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9</a:t>
            </a:r>
            <a:r>
              <a:rPr lang="en-US" sz="11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:</a:t>
            </a:r>
            <a:r>
              <a:rPr lang="pl-PL" sz="11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00</a:t>
            </a:r>
            <a:r>
              <a:rPr lang="en-US" sz="11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 – 1</a:t>
            </a:r>
            <a:r>
              <a:rPr lang="pl-PL" sz="1100" dirty="0"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2</a:t>
            </a:r>
            <a:r>
              <a:rPr lang="en-US" sz="11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:</a:t>
            </a:r>
            <a:r>
              <a:rPr lang="pl-PL" sz="1100" dirty="0"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00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958230" y="2217946"/>
            <a:ext cx="7003041" cy="13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pl-PL" sz="900" b="1" dirty="0">
                <a:latin typeface="Karla Bold" pitchFamily="34" charset="0"/>
              </a:rPr>
              <a:t>Blok 1: Systemy AI</a:t>
            </a:r>
            <a:endParaRPr lang="en-US" sz="9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304165"/>
            <a:ext cx="7526146" cy="56978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58230" y="1397145"/>
            <a:ext cx="7003041" cy="148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pl-PL" sz="1100" dirty="0"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08</a:t>
            </a:r>
            <a:r>
              <a:rPr lang="en-US" sz="11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:</a:t>
            </a:r>
            <a:r>
              <a:rPr lang="pl-PL" sz="11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45</a:t>
            </a:r>
            <a:r>
              <a:rPr lang="en-US" sz="11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 – </a:t>
            </a:r>
            <a:r>
              <a:rPr lang="pl-PL" sz="1100" dirty="0"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09</a:t>
            </a:r>
            <a:r>
              <a:rPr lang="en-US" sz="11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:</a:t>
            </a:r>
            <a:r>
              <a:rPr lang="pl-PL" sz="1100" dirty="0"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00</a:t>
            </a:r>
            <a:endParaRPr lang="en-US" sz="1100" dirty="0"/>
          </a:p>
        </p:txBody>
      </p:sp>
      <p:sp>
        <p:nvSpPr>
          <p:cNvPr id="13" name="Text 7"/>
          <p:cNvSpPr/>
          <p:nvPr/>
        </p:nvSpPr>
        <p:spPr>
          <a:xfrm>
            <a:off x="958230" y="1589059"/>
            <a:ext cx="7003041" cy="13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pl-PL" sz="90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Przerwa kawowa</a:t>
            </a:r>
            <a:endParaRPr lang="en-US" sz="9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20" y="3205757"/>
            <a:ext cx="7526146" cy="56978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958230" y="3310234"/>
            <a:ext cx="7003041" cy="148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1</a:t>
            </a:r>
            <a:r>
              <a:rPr lang="pl-PL" sz="11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2</a:t>
            </a:r>
            <a:r>
              <a:rPr lang="en-US" sz="11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:</a:t>
            </a:r>
            <a:r>
              <a:rPr lang="pl-PL" sz="11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45</a:t>
            </a:r>
            <a:r>
              <a:rPr lang="en-US" sz="11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 – 1</a:t>
            </a:r>
            <a:r>
              <a:rPr lang="pl-PL" sz="11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3</a:t>
            </a:r>
            <a:r>
              <a:rPr lang="en-US" sz="11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:4</a:t>
            </a:r>
            <a:r>
              <a:rPr lang="pl-PL" sz="1100" dirty="0"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5</a:t>
            </a:r>
            <a:endParaRPr lang="en-US" sz="1100" dirty="0"/>
          </a:p>
        </p:txBody>
      </p:sp>
      <p:sp>
        <p:nvSpPr>
          <p:cNvPr id="16" name="Text 9"/>
          <p:cNvSpPr/>
          <p:nvPr/>
        </p:nvSpPr>
        <p:spPr>
          <a:xfrm>
            <a:off x="958230" y="3502148"/>
            <a:ext cx="7003041" cy="13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Blok </a:t>
            </a:r>
            <a:r>
              <a:rPr lang="pl-PL" sz="900" b="1" dirty="0">
                <a:latin typeface="Karla Bold" pitchFamily="34" charset="0"/>
                <a:ea typeface="Karla Bold" pitchFamily="34" charset="-122"/>
                <a:cs typeface="Karla Bold" pitchFamily="34" charset="-120"/>
              </a:rPr>
              <a:t>2: Regulacje AI</a:t>
            </a:r>
            <a:endParaRPr lang="en-US" sz="90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20" y="2551071"/>
            <a:ext cx="7526146" cy="569788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958230" y="2655548"/>
            <a:ext cx="7003041" cy="148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12:</a:t>
            </a:r>
            <a:r>
              <a:rPr lang="pl-PL" sz="1100" dirty="0"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0</a:t>
            </a:r>
            <a:r>
              <a:rPr lang="pl-PL" sz="11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0</a:t>
            </a:r>
            <a:r>
              <a:rPr lang="en-US" sz="11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 – 1</a:t>
            </a:r>
            <a:r>
              <a:rPr lang="pl-PL" sz="1100" dirty="0"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2</a:t>
            </a:r>
            <a:r>
              <a:rPr lang="en-US" sz="11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:</a:t>
            </a:r>
            <a:r>
              <a:rPr lang="pl-PL" sz="1100" dirty="0"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45</a:t>
            </a:r>
            <a:endParaRPr lang="en-US" sz="1100" dirty="0"/>
          </a:p>
        </p:txBody>
      </p:sp>
      <p:sp>
        <p:nvSpPr>
          <p:cNvPr id="19" name="Text 11"/>
          <p:cNvSpPr/>
          <p:nvPr/>
        </p:nvSpPr>
        <p:spPr>
          <a:xfrm>
            <a:off x="958230" y="2847462"/>
            <a:ext cx="7003041" cy="13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Przerwa obiadowa</a:t>
            </a:r>
            <a:r>
              <a:rPr lang="en-US" sz="9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🥪</a:t>
            </a:r>
            <a:endParaRPr lang="en-US" sz="90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20" y="3863418"/>
            <a:ext cx="7526146" cy="569788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958230" y="3967895"/>
            <a:ext cx="7003041" cy="148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1</a:t>
            </a:r>
            <a:r>
              <a:rPr lang="pl-PL" sz="11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3</a:t>
            </a:r>
            <a:r>
              <a:rPr lang="en-US" sz="11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:</a:t>
            </a:r>
            <a:r>
              <a:rPr lang="pl-PL" sz="1100" dirty="0"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45</a:t>
            </a:r>
            <a:r>
              <a:rPr lang="en-US" sz="11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 – 14:</a:t>
            </a:r>
            <a:r>
              <a:rPr lang="pl-PL" sz="11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25</a:t>
            </a:r>
            <a:endParaRPr lang="en-US" sz="1100" dirty="0"/>
          </a:p>
        </p:txBody>
      </p:sp>
      <p:sp>
        <p:nvSpPr>
          <p:cNvPr id="22" name="Text 13"/>
          <p:cNvSpPr/>
          <p:nvPr/>
        </p:nvSpPr>
        <p:spPr>
          <a:xfrm>
            <a:off x="958230" y="4148312"/>
            <a:ext cx="7003041" cy="13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Blok 3</a:t>
            </a:r>
            <a:r>
              <a:rPr lang="pl-PL" sz="90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: Infrastruktura AI   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0A5D1-CA5C-C6F9-FFB6-35CC1B7DF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04AD110F-4654-3E4F-C807-DD8ED590DB78}"/>
              </a:ext>
            </a:extLst>
          </p:cNvPr>
          <p:cNvSpPr txBox="1"/>
          <p:nvPr/>
        </p:nvSpPr>
        <p:spPr>
          <a:xfrm>
            <a:off x="1097280" y="2045170"/>
            <a:ext cx="6949440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l-PL" sz="6000" b="1" i="0" dirty="0">
                <a:solidFill>
                  <a:srgbClr val="F66953"/>
                </a:solidFill>
                <a:latin typeface="Geologica Medium"/>
              </a:rPr>
              <a:t>Systemy AI</a:t>
            </a:r>
            <a:endParaRPr sz="6000" b="1" i="0" dirty="0">
              <a:solidFill>
                <a:srgbClr val="F66953"/>
              </a:solidFill>
              <a:latin typeface="Geologica Medium"/>
            </a:endParaRPr>
          </a:p>
        </p:txBody>
      </p:sp>
    </p:spTree>
    <p:extLst>
      <p:ext uri="{BB962C8B-B14F-4D97-AF65-F5344CB8AC3E}">
        <p14:creationId xmlns:p14="http://schemas.microsoft.com/office/powerpoint/2010/main" val="1354324699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16548</TotalTime>
  <Words>803</Words>
  <Application>Microsoft Office PowerPoint</Application>
  <PresentationFormat>On-screen Show (16:9)</PresentationFormat>
  <Paragraphs>133</Paragraphs>
  <Slides>18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Karla Bold</vt:lpstr>
      <vt:lpstr>Geologica Semi Bold</vt:lpstr>
      <vt:lpstr>Arial</vt:lpstr>
      <vt:lpstr>Geologica SemiBold</vt:lpstr>
      <vt:lpstr>Geologica Light</vt:lpstr>
      <vt:lpstr>Karla</vt:lpstr>
      <vt:lpstr>Geologica Medium</vt:lpstr>
      <vt:lpstr>Geologica</vt:lpstr>
      <vt:lpstr>Simple Light</vt:lpstr>
      <vt:lpstr>Kompetencje cyfrowe i sztuczna inteligencja dla wolontariuszy</vt:lpstr>
      <vt:lpstr>PowerPoint Presentation</vt:lpstr>
      <vt:lpstr>PowerPoint Presentation</vt:lpstr>
      <vt:lpstr>Uczenie maszynowe</vt:lpstr>
      <vt:lpstr>PowerPoint Presentation</vt:lpstr>
      <vt:lpstr>KONWOLUCYJNE SIECI NEURONOWE (CNNS)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RAG</vt:lpstr>
      <vt:lpstr>AGENT AI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Kasper</dc:creator>
  <cp:lastModifiedBy>Kasper Kalfas</cp:lastModifiedBy>
  <cp:revision>41</cp:revision>
  <dcterms:modified xsi:type="dcterms:W3CDTF">2026-08-06T10:53:00Z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ddddc05-6d75-4c89-ae8a-b8ab1a1994bc_Enabled">
    <vt:lpwstr>true</vt:lpwstr>
  </property>
  <property fmtid="{D5CDD505-2E9C-101B-9397-08002B2CF9AE}" pid="3" name="MSIP_Label_6ddddc05-6d75-4c89-ae8a-b8ab1a1994bc_SetDate">
    <vt:lpwstr>2025-11-27T22:59:01Z</vt:lpwstr>
  </property>
  <property fmtid="{D5CDD505-2E9C-101B-9397-08002B2CF9AE}" pid="4" name="MSIP_Label_6ddddc05-6d75-4c89-ae8a-b8ab1a1994bc_Method">
    <vt:lpwstr>Standard</vt:lpwstr>
  </property>
  <property fmtid="{D5CDD505-2E9C-101B-9397-08002B2CF9AE}" pid="5" name="MSIP_Label_6ddddc05-6d75-4c89-ae8a-b8ab1a1994bc_Name">
    <vt:lpwstr>without watermark</vt:lpwstr>
  </property>
  <property fmtid="{D5CDD505-2E9C-101B-9397-08002B2CF9AE}" pid="6" name="MSIP_Label_6ddddc05-6d75-4c89-ae8a-b8ab1a1994bc_SiteId">
    <vt:lpwstr>ff9ac3ce-3c41-41c3-b556-e1b32a662fed</vt:lpwstr>
  </property>
  <property fmtid="{D5CDD505-2E9C-101B-9397-08002B2CF9AE}" pid="7" name="MSIP_Label_6ddddc05-6d75-4c89-ae8a-b8ab1a1994bc_ActionId">
    <vt:lpwstr>4d2ddf13-8b8b-4459-8499-d889c9d828b0</vt:lpwstr>
  </property>
  <property fmtid="{D5CDD505-2E9C-101B-9397-08002B2CF9AE}" pid="8" name="MSIP_Label_6ddddc05-6d75-4c89-ae8a-b8ab1a1994bc_ContentBits">
    <vt:lpwstr>0</vt:lpwstr>
  </property>
  <property fmtid="{D5CDD505-2E9C-101B-9397-08002B2CF9AE}" pid="9" name="MSIP_Label_6ddddc05-6d75-4c89-ae8a-b8ab1a1994bc_Tag">
    <vt:lpwstr>50, 3, 0, 1</vt:lpwstr>
  </property>
</Properties>
</file>