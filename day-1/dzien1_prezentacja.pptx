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510" r:id="rId2"/>
    <p:sldId id="256" r:id="rId3"/>
    <p:sldId id="526" r:id="rId4"/>
    <p:sldId id="259" r:id="rId5"/>
    <p:sldId id="527" r:id="rId6"/>
    <p:sldId id="528" r:id="rId7"/>
    <p:sldId id="529" r:id="rId8"/>
    <p:sldId id="260" r:id="rId9"/>
    <p:sldId id="257" r:id="rId10"/>
    <p:sldId id="258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16x9"/>
  <p:notesSz cx="6858000" cy="9144000"/>
  <p:embeddedFontLst>
    <p:embeddedFont>
      <p:font typeface="Geologica" panose="020B0604020202020204" charset="0"/>
      <p:regular r:id="rId19"/>
      <p:bold r:id="rId20"/>
    </p:embeddedFont>
    <p:embeddedFont>
      <p:font typeface="Geologica Light" panose="020B0604020202020204" charset="0"/>
      <p:regular r:id="rId21"/>
      <p:bold r:id="rId22"/>
    </p:embeddedFont>
    <p:embeddedFont>
      <p:font typeface="Geologica Medium" panose="020B0604020202020204" charset="0"/>
      <p:regular r:id="rId23"/>
      <p:bold r:id="rId24"/>
    </p:embeddedFont>
    <p:embeddedFont>
      <p:font typeface="Karla" pitchFamily="2" charset="0"/>
      <p:regular r:id="rId25"/>
      <p:bold r:id="rId26"/>
    </p:embeddedFont>
    <p:embeddedFont>
      <p:font typeface="Karla Bold" pitchFamily="2" charset="0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080">
          <p15:clr>
            <a:srgbClr val="747775"/>
          </p15:clr>
        </p15:guide>
        <p15:guide id="2" pos="5533">
          <p15:clr>
            <a:srgbClr val="747775"/>
          </p15:clr>
        </p15:guide>
        <p15:guide id="3" orient="horz" pos="170">
          <p15:clr>
            <a:srgbClr val="747775"/>
          </p15:clr>
        </p15:guide>
        <p15:guide id="4" orient="horz" pos="3070">
          <p15:clr>
            <a:srgbClr val="747775"/>
          </p15:clr>
        </p15:guide>
        <p15:guide id="5" pos="227">
          <p15:clr>
            <a:srgbClr val="747775"/>
          </p15:clr>
        </p15:guide>
        <p15:guide id="6" pos="2880">
          <p15:clr>
            <a:srgbClr val="747775"/>
          </p15:clr>
        </p15:guide>
        <p15:guide id="7" pos="680">
          <p15:clr>
            <a:srgbClr val="747775"/>
          </p15:clr>
        </p15:guide>
        <p15:guide id="8" pos="2653">
          <p15:clr>
            <a:srgbClr val="747775"/>
          </p15:clr>
        </p15:guide>
        <p15:guide id="9" orient="horz" pos="965">
          <p15:clr>
            <a:srgbClr val="747775"/>
          </p15:clr>
        </p15:guide>
        <p15:guide id="10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/>
    <p:restoredTop sz="94658"/>
  </p:normalViewPr>
  <p:slideViewPr>
    <p:cSldViewPr snapToGrid="0">
      <p:cViewPr varScale="1">
        <p:scale>
          <a:sx n="120" d="100"/>
          <a:sy n="120" d="100"/>
        </p:scale>
        <p:origin x="900" y="76"/>
      </p:cViewPr>
      <p:guideLst>
        <p:guide pos="5080"/>
        <p:guide pos="5533"/>
        <p:guide orient="horz" pos="170"/>
        <p:guide orient="horz" pos="3070"/>
        <p:guide pos="227"/>
        <p:guide pos="2880"/>
        <p:guide pos="680"/>
        <p:guide pos="2653"/>
        <p:guide orient="horz" pos="96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78498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CD3C42-3D02-C590-3A7D-D4FFE6F5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7EC483-03BB-761C-D21D-69FF4BA9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B91D15-965F-9226-4E84-B961F57E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3576-D00D-4CF1-841E-9D085B8CC14A}" type="datetimeFigureOut">
              <a:rPr lang="pl-PL" smtClean="0"/>
              <a:t>24.07.2026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1FCBD-4769-4CBF-6A25-4E53D777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9DAAA9-E562-0144-4F0C-6C80BF4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D71-6E2F-4AB3-B3DD-360C297AD6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42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</p:sp>
    </p:spTree>
    <p:extLst>
      <p:ext uri="{BB962C8B-B14F-4D97-AF65-F5344CB8AC3E}">
        <p14:creationId xmlns:p14="http://schemas.microsoft.com/office/powerpoint/2010/main" val="401918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BF3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logica"/>
              <a:buNone/>
              <a:defRPr sz="2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logica Light"/>
              <a:buChar char="●"/>
              <a:defRPr sz="1800"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6" r:id="rId4"/>
    <p:sldLayoutId id="2147483657" r:id="rId5"/>
    <p:sldLayoutId id="2147483681" r:id="rId6"/>
    <p:sldLayoutId id="2147483682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8358FC5E-BD6B-93EC-4192-3A316528C3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44432" y="239196"/>
            <a:ext cx="6984000" cy="18533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Kompetencje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cyfrowe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i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sztuczna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inteligencja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dla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wolontariuszy</a:t>
            </a:r>
            <a:endParaRPr sz="3600" dirty="0">
              <a:solidFill>
                <a:srgbClr val="424237"/>
              </a:solidFill>
              <a:latin typeface="Geologica Medium"/>
              <a:ea typeface="Geologica Medium"/>
              <a:cs typeface="Geologica Medium"/>
              <a:sym typeface="Geologica Medium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97280" y="2620090"/>
            <a:ext cx="6949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F66953"/>
                </a:solidFill>
                <a:latin typeface="Geologica Medium"/>
              </a:rPr>
              <a:t>Szkolenie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– </a:t>
            </a:r>
            <a:r>
              <a:rPr sz="2800" b="1" i="0" dirty="0" err="1">
                <a:solidFill>
                  <a:srgbClr val="F66953"/>
                </a:solidFill>
                <a:latin typeface="Geologica Medium"/>
              </a:rPr>
              <a:t>Dzień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1  ·  1 </a:t>
            </a:r>
            <a:r>
              <a:rPr sz="2800" b="1" i="0" dirty="0" err="1">
                <a:solidFill>
                  <a:srgbClr val="F66953"/>
                </a:solidFill>
                <a:latin typeface="Geologica Medium"/>
              </a:rPr>
              <a:t>lipca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3318260"/>
            <a:ext cx="69494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dirty="0">
                <a:solidFill>
                  <a:srgbClr val="6E6E62"/>
                </a:solidFill>
                <a:latin typeface="Geologica"/>
              </a:rPr>
              <a:t>Program: </a:t>
            </a:r>
            <a:r>
              <a:rPr sz="1800" b="0" i="0" dirty="0" err="1">
                <a:solidFill>
                  <a:srgbClr val="6E6E62"/>
                </a:solidFill>
                <a:latin typeface="Geologica"/>
              </a:rPr>
              <a:t>kompetencje</a:t>
            </a:r>
            <a:r>
              <a:rPr sz="1800" b="0" i="0" dirty="0">
                <a:solidFill>
                  <a:srgbClr val="6E6E62"/>
                </a:solidFill>
                <a:latin typeface="Geologica"/>
              </a:rPr>
              <a:t> </a:t>
            </a:r>
            <a:r>
              <a:rPr sz="1800" b="0" i="0" dirty="0" err="1">
                <a:solidFill>
                  <a:srgbClr val="6E6E62"/>
                </a:solidFill>
                <a:latin typeface="Geologica"/>
              </a:rPr>
              <a:t>cyfrowe</a:t>
            </a:r>
            <a:r>
              <a:rPr sz="1800" b="0" i="0" dirty="0">
                <a:solidFill>
                  <a:srgbClr val="6E6E62"/>
                </a:solidFill>
                <a:latin typeface="Geologica"/>
              </a:rPr>
              <a:t>, AI, </a:t>
            </a:r>
            <a:r>
              <a:rPr sz="1800" b="0" i="0" dirty="0" err="1">
                <a:solidFill>
                  <a:srgbClr val="6E6E62"/>
                </a:solidFill>
                <a:latin typeface="Geologica"/>
              </a:rPr>
              <a:t>programowanie</a:t>
            </a:r>
            <a:r>
              <a:rPr sz="1800" b="0" i="0" dirty="0">
                <a:solidFill>
                  <a:srgbClr val="6E6E62"/>
                </a:solidFill>
                <a:latin typeface="Geologica"/>
              </a:rPr>
              <a:t> </a:t>
            </a:r>
            <a:r>
              <a:rPr sz="1800" b="0" i="0" dirty="0" err="1">
                <a:solidFill>
                  <a:srgbClr val="6E6E62"/>
                </a:solidFill>
                <a:latin typeface="Geologica"/>
              </a:rPr>
              <a:t>i</a:t>
            </a:r>
            <a:r>
              <a:rPr sz="1800" b="0" i="0" dirty="0">
                <a:solidFill>
                  <a:srgbClr val="6E6E62"/>
                </a:solidFill>
                <a:latin typeface="Geologica"/>
              </a:rPr>
              <a:t> </a:t>
            </a:r>
            <a:r>
              <a:rPr sz="1800" b="0" i="0" dirty="0" err="1">
                <a:solidFill>
                  <a:srgbClr val="6E6E62"/>
                </a:solidFill>
                <a:latin typeface="Geologica"/>
              </a:rPr>
              <a:t>narzędzia</a:t>
            </a:r>
            <a:r>
              <a:rPr sz="1800" b="0" i="0" dirty="0">
                <a:solidFill>
                  <a:srgbClr val="6E6E62"/>
                </a:solidFill>
                <a:latin typeface="Geologica"/>
              </a:rPr>
              <a:t> </a:t>
            </a:r>
            <a:r>
              <a:rPr sz="1800" b="0" i="0" dirty="0" err="1">
                <a:solidFill>
                  <a:srgbClr val="6E6E62"/>
                </a:solidFill>
                <a:latin typeface="Geologica"/>
              </a:rPr>
              <a:t>graficzne</a:t>
            </a:r>
            <a:endParaRPr sz="1800" b="0" i="0" dirty="0">
              <a:solidFill>
                <a:srgbClr val="6E6E62"/>
              </a:solidFill>
              <a:latin typeface="Geologica"/>
            </a:endParaRPr>
          </a:p>
        </p:txBody>
      </p:sp>
      <p:pic>
        <p:nvPicPr>
          <p:cNvPr id="57" name="Picture 56" descr="image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26280"/>
            <a:ext cx="1515268" cy="310896"/>
          </a:xfrm>
          <a:prstGeom prst="rect">
            <a:avLst/>
          </a:prstGeom>
        </p:spPr>
      </p:pic>
      <p:pic>
        <p:nvPicPr>
          <p:cNvPr id="58" name="Picture 57" descr="logotyp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553712"/>
            <a:ext cx="196495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29147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Kompetencje cyfrowe i sztuczna inteligencja dla wolontariuszy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977828"/>
            <a:ext cx="4722763" cy="53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Dzień 1 warsztatów ·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25 lipca 2026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· Fundacja Harmonia Życia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Prowadzi: </a:t>
            </a:r>
            <a:r>
              <a:rPr lang="en-US" sz="95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Kasper Kalfas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· Cloud Data Architect &amp; AI Trener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ymbol zastępczy obrazu 11" descr="Obraz zawierający Ludzka twarz, osoba, człowiek, ubra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510C88D-F928-243D-5344-143ACC93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45725" y="119207"/>
            <a:ext cx="2452543" cy="24525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Google Shape;111;p18">
            <a:extLst>
              <a:ext uri="{FF2B5EF4-FFF2-40B4-BE49-F238E27FC236}">
                <a16:creationId xmlns:a16="http://schemas.microsoft.com/office/drawing/2014/main" id="{FBADC2CA-C2FA-53AB-6436-C7AF2CB7D1CB}"/>
              </a:ext>
            </a:extLst>
          </p:cNvPr>
          <p:cNvSpPr txBox="1"/>
          <p:nvPr/>
        </p:nvSpPr>
        <p:spPr>
          <a:xfrm>
            <a:off x="162147" y="2854843"/>
            <a:ext cx="8819706" cy="127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Kasper Kalfas </a:t>
            </a:r>
          </a:p>
          <a:p>
            <a:pPr algn="ctr">
              <a:lnSpc>
                <a:spcPct val="115000"/>
              </a:lnSpc>
            </a:pPr>
            <a:r>
              <a:rPr lang="pl-PL" sz="20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Lubię śpiewać karaoke 🎵🎶</a:t>
            </a:r>
            <a:r>
              <a:rPr lang="en-US" sz="20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r>
              <a:rPr lang="pl-PL" sz="20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i podróże do Włoch!</a:t>
            </a:r>
            <a:br>
              <a:rPr lang="pl-PL" sz="2000" dirty="0">
                <a:solidFill>
                  <a:srgbClr val="424237"/>
                </a:solidFill>
                <a:latin typeface="Geologica"/>
                <a:sym typeface="Geologica"/>
              </a:rPr>
            </a:br>
            <a:r>
              <a:rPr lang="pl-PL" sz="2000" dirty="0">
                <a:solidFill>
                  <a:srgbClr val="424237"/>
                </a:solidFill>
                <a:latin typeface="Geologica"/>
                <a:sym typeface="Geologica"/>
              </a:rPr>
              <a:t>Data</a:t>
            </a:r>
            <a:r>
              <a:rPr lang="en-US" sz="2000" dirty="0">
                <a:solidFill>
                  <a:srgbClr val="424237"/>
                </a:solidFill>
                <a:latin typeface="Geologica"/>
                <a:sym typeface="Geologica"/>
              </a:rPr>
              <a:t> &amp; AI</a:t>
            </a:r>
            <a:r>
              <a:rPr lang="pl-PL" sz="2000" dirty="0">
                <a:solidFill>
                  <a:srgbClr val="424237"/>
                </a:solidFill>
                <a:latin typeface="Geologica"/>
                <a:sym typeface="Geologica"/>
              </a:rPr>
              <a:t> </a:t>
            </a:r>
            <a:r>
              <a:rPr lang="en-US" sz="2000" dirty="0">
                <a:solidFill>
                  <a:srgbClr val="424237"/>
                </a:solidFill>
                <a:latin typeface="Geologica"/>
                <a:sym typeface="Geologica"/>
              </a:rPr>
              <a:t>Expert</a:t>
            </a:r>
            <a:endParaRPr lang="pl-PL" sz="2000" dirty="0">
              <a:solidFill>
                <a:srgbClr val="424237"/>
              </a:solidFill>
              <a:latin typeface="Geologica"/>
              <a:sym typeface="Geologica"/>
            </a:endParaRPr>
          </a:p>
          <a:p>
            <a:pPr algn="ctr">
              <a:lnSpc>
                <a:spcPct val="115000"/>
              </a:lnSpc>
            </a:pPr>
            <a:endParaRPr lang="pl-PL" sz="2000" dirty="0">
              <a:solidFill>
                <a:srgbClr val="424237"/>
              </a:solidFill>
              <a:latin typeface="Geologica"/>
              <a:sym typeface="Geolog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822" y="435397"/>
            <a:ext cx="3257699" cy="4272707"/>
          </a:xfrm>
          <a:prstGeom prst="roundRect">
            <a:avLst>
              <a:gd name="adj" fmla="val 2742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530796" y="3724201"/>
            <a:ext cx="300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Kasper Kalfas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796" y="4042023"/>
            <a:ext cx="34669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Cloud Data Architect &amp; Cloud Data/AI Trener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30796" y="4380012"/>
            <a:ext cx="831800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05210" y="4417219"/>
            <a:ext cx="114017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GOOGLE CLOUD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424583" y="4380012"/>
            <a:ext cx="671885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1498997" y="4417219"/>
            <a:ext cx="98025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MICROSOFT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58454" y="4380012"/>
            <a:ext cx="351681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2232868" y="4417219"/>
            <a:ext cx="66005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AWS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572122" y="4380012"/>
            <a:ext cx="701055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2646536" y="4417219"/>
            <a:ext cx="100942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DATABRICKS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82554" y="559371"/>
            <a:ext cx="477001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Kim jestem?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882554" y="1070893"/>
            <a:ext cx="47700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 lat pracuję z danymi i sztuczną inteligencją — zaczynałem jak większość z Was: bez specjalistycznej wiedzy, za to z dużą ciekawością i chęcią działania. Dziś pomagam organizacjom i ludziom wdrażać rozwiązania oparte na AI w praktyce.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8266" y="1791519"/>
            <a:ext cx="4784303" cy="9417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35103" y="1805806"/>
            <a:ext cx="46174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Doświadczenie i certyfikaty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35103" y="2123629"/>
            <a:ext cx="461746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Posiadam certyfikaty Google Cloud, Microsoft Azure, AWS oraz Databricks. Specjalizuję się w architekturze danych i szkoleniach z AI dla różnych grup odbiorców.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8266" y="2952750"/>
            <a:ext cx="4784303" cy="7433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35103" y="2967038"/>
            <a:ext cx="46174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Prywatnie </a:t>
            </a: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🎤🇮🇹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035103" y="3284860"/>
            <a:ext cx="461746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Uwielbiam karaoke — i nie wstydzę się tego przyznać! A gdy tylko mogę, wyrywam się do Włoch. Dolce vita jest dla mnie prawdziwą inspiracją.</a:t>
            </a:r>
            <a:endParaRPr lang="en-US" sz="950" dirty="0"/>
          </a:p>
        </p:txBody>
      </p:sp>
      <p:pic>
        <p:nvPicPr>
          <p:cNvPr id="23" name="Symbol zastępczy obrazu 11" descr="Obraz zawierający Ludzka twarz, osoba, człowiek, ubra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775253A-E29E-5EA1-1EAB-10CCF37DC7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5210" y="978130"/>
            <a:ext cx="2452543" cy="24525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ftware Mind">
            <a:extLst>
              <a:ext uri="{FF2B5EF4-FFF2-40B4-BE49-F238E27FC236}">
                <a16:creationId xmlns:a16="http://schemas.microsoft.com/office/drawing/2014/main" id="{2AB3B3B7-8B4E-4346-6118-167675BB8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1" y="3550565"/>
            <a:ext cx="3642904" cy="13426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tris AS – Datadreven innsikt med målbar verdi">
            <a:extLst>
              <a:ext uri="{FF2B5EF4-FFF2-40B4-BE49-F238E27FC236}">
                <a16:creationId xmlns:a16="http://schemas.microsoft.com/office/drawing/2014/main" id="{9510729C-FCB3-4244-39C4-13C1EACDB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884" y="1192551"/>
            <a:ext cx="1991161" cy="19911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hmura publiczna Scaleway już dostępna w Polsce | ISBtech.pl">
            <a:extLst>
              <a:ext uri="{FF2B5EF4-FFF2-40B4-BE49-F238E27FC236}">
                <a16:creationId xmlns:a16="http://schemas.microsoft.com/office/drawing/2014/main" id="{42BDD9BA-7AE6-4D78-009F-19617BDD8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127" y="3701281"/>
            <a:ext cx="4325757" cy="10412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11;p18">
            <a:extLst>
              <a:ext uri="{FF2B5EF4-FFF2-40B4-BE49-F238E27FC236}">
                <a16:creationId xmlns:a16="http://schemas.microsoft.com/office/drawing/2014/main" id="{095C8070-6C17-EA4E-E808-26B821897ECD}"/>
              </a:ext>
            </a:extLst>
          </p:cNvPr>
          <p:cNvSpPr txBox="1"/>
          <p:nvPr/>
        </p:nvSpPr>
        <p:spPr>
          <a:xfrm>
            <a:off x="1314306" y="258312"/>
            <a:ext cx="6515387" cy="7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algn="ctr">
              <a:lnSpc>
                <a:spcPct val="115000"/>
              </a:lnSpc>
            </a:pPr>
            <a:r>
              <a:rPr lang="pl-PL" sz="36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Zaufali mi</a:t>
            </a:r>
          </a:p>
          <a:p>
            <a:pPr algn="ctr">
              <a:lnSpc>
                <a:spcPct val="115000"/>
              </a:lnSpc>
            </a:pPr>
            <a:endParaRPr lang="en-PL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C4AB5A-8380-2943-8FA1-C732B7242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417" y="1274712"/>
            <a:ext cx="2607290" cy="18268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1;p18">
            <a:extLst>
              <a:ext uri="{FF2B5EF4-FFF2-40B4-BE49-F238E27FC236}">
                <a16:creationId xmlns:a16="http://schemas.microsoft.com/office/drawing/2014/main" id="{46B8D0F3-7724-1C71-0474-C91AD378809C}"/>
              </a:ext>
            </a:extLst>
          </p:cNvPr>
          <p:cNvSpPr txBox="1"/>
          <p:nvPr/>
        </p:nvSpPr>
        <p:spPr>
          <a:xfrm>
            <a:off x="1043247" y="207818"/>
            <a:ext cx="7057505" cy="104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pl-PL" sz="44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Moje certyfikaty</a:t>
            </a:r>
          </a:p>
          <a:p>
            <a:pPr algn="ctr">
              <a:lnSpc>
                <a:spcPct val="115000"/>
              </a:lnSpc>
            </a:pPr>
            <a:endParaRPr lang="en-PL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9C824-4771-E99D-AC5F-B740F135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93" y="1255222"/>
            <a:ext cx="9153293" cy="38882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1;p18">
            <a:extLst>
              <a:ext uri="{FF2B5EF4-FFF2-40B4-BE49-F238E27FC236}">
                <a16:creationId xmlns:a16="http://schemas.microsoft.com/office/drawing/2014/main" id="{B05EBE18-A74C-FF99-8A3D-CFA08D28376B}"/>
              </a:ext>
            </a:extLst>
          </p:cNvPr>
          <p:cNvSpPr txBox="1"/>
          <p:nvPr/>
        </p:nvSpPr>
        <p:spPr>
          <a:xfrm>
            <a:off x="1314306" y="3977968"/>
            <a:ext cx="6515387" cy="70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pl-PL" sz="2900" dirty="0">
                <a:solidFill>
                  <a:srgbClr val="424237"/>
                </a:solidFill>
                <a:latin typeface="Geologica"/>
                <a:ea typeface="Geologica"/>
                <a:cs typeface="Geologica"/>
                <a:sym typeface="Geologica"/>
              </a:rPr>
              <a:t>Podziękowania dla Ciebie i Ciebie!</a:t>
            </a:r>
          </a:p>
          <a:p>
            <a:pPr algn="ctr">
              <a:lnSpc>
                <a:spcPct val="115000"/>
              </a:lnSpc>
            </a:pPr>
            <a:endParaRPr lang="en-PL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3469AB-62A8-27D9-13E9-D879DAE8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328" y="587935"/>
            <a:ext cx="1894584" cy="28418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5D3CDF-0136-1B40-2C8B-9F7D43BF0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843" y="587935"/>
            <a:ext cx="1960880" cy="29413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5506"/>
            <a:ext cx="4722763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Poznajmy się — Speed Dating </a:t>
            </a:r>
            <a:r>
              <a:rPr lang="en-US" sz="2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441400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Zanim przejdziemy do merytoryki, czas na integrację! Ćwiczenie speed dating pozwoli nam szybko poznać się nawzajem i zbudować atmosferę otwartości, która będzie nam towarzyszyć przez cały program.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176314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90206" y="2176314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Rundy 3–4 minutowe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90206" y="2444576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Rozmawiasz w parze przez kilka minut, a potem następuje zmiana partnera. Każdy pozna wielu uczestników w krótkim czasie!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089523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90206" y="3089523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Pytania pomocnicze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90206" y="3357786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Twoje doświadczenie z technologią / Czego oczekujesz od szkolenia / Jedna ciekawostka o Tobie — baw się dobrze!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4002732"/>
            <a:ext cx="310083" cy="3100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90206" y="4002732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Cel ćwiczenia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390206" y="4270995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Przełamanie lodów i zbudowanie relacji w grupie — wspólna nauka jest łatwiejsza, gdy znamy się nawzajem.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6587"/>
            <a:ext cx="8151763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Witajcie! </a:t>
            </a:r>
            <a:r>
              <a:rPr lang="en-US" sz="2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46920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Cieszymy się, że jesteście z nami. Ten program powstał z myślą o Was — osobach, które chcą rozwijać swoje kompetencje cyfrowe i dzielić się tą wiedzą z innymi. Nie musicie mieć żadnego technicznego doświadczenia — zaczynamy od absolutnych podstaw, w przyjaznej i otwartej atmosferze.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81833"/>
            <a:ext cx="2634555" cy="1319585"/>
          </a:xfrm>
          <a:prstGeom prst="roundRect">
            <a:avLst>
              <a:gd name="adj" fmla="val 394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24855" y="2410569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🙌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Dla kogo?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678832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Dla wolontariuszy i osób zainteresowanych rozwojem kompetencji cyfrowych — bez względu na poziom doświadczenia z technologią.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281833"/>
            <a:ext cx="2634630" cy="1319585"/>
          </a:xfrm>
          <a:prstGeom prst="roundRect">
            <a:avLst>
              <a:gd name="adj" fmla="val 394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383384" y="2410569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Dlaczego?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678832"/>
            <a:ext cx="23771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Technologia i AI zmieniają świat. Chcemy, żebyście byli gotowi z niej korzystać — świadomie, bezpiecznie i kreatywnie.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2281833"/>
            <a:ext cx="2634555" cy="1319585"/>
          </a:xfrm>
          <a:prstGeom prst="roundRect">
            <a:avLst>
              <a:gd name="adj" fmla="val 394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141988" y="2410569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Jak?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678832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Przez praktyczne warsztaty, ćwiczenia w parach i grupach oraz budowanie relacji z innymi uczestnikami.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740944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920728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895874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Bez obaw o „brak technicznej wiedzy" — tu każde pytanie jest dobrym pytaniem!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8471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Cele programu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08205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Program szkoleniowy Fundacji Harmonia Życia ma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podwójny cel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rozwinąć Wasze własne umiejętności cyfrowe i AI, a jednocześnie przygotować Was do roli </a:t>
            </a:r>
            <a:r>
              <a:rPr lang="en-US" sz="95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multiplikatorów wiedzy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w Waszych społecznościach.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81696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3971627" y="184022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328145" y="1859607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Przeszkolonych uczestników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28145" y="2127870"/>
            <a:ext cx="431973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Program obejmuje 15 wolontariuszy (UP), którzy przejdą przez 8 intensywnych dni warsztatów z zakresu AI, programowania i narzędzi graficznych.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25119" y="297127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3971627" y="299453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328145" y="3013918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Własny rozwój + uczenie innych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28145" y="3282181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tylko zdobywasz nowe kompetencje — stajesz się osobą, która potrafi przekazać tę wiedzę dalej, w swoim środowisku i organizacji.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92712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3971627" y="395038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328145" y="3969767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Wolontariusze jako multiplikatorzy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28145" y="4238030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Efekt końcowy programu to sieć przeszkolonych osób, które samodzielnie wspierają innych w nauce kompetencji cyfrowych i AI.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046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Agenda Dnia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3603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Dzisiejszy dzień podzielony jest na trzy bloki tematyczne. Każdy blok to 2 lub 4 jednostki po 45 minut, z przerwami na kawę i pytania. Pamiętajcie — tempo dostosowujemy do grupy!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72481"/>
            <a:ext cx="620167" cy="744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0259" y="1996455"/>
            <a:ext cx="74076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Blok 1 — Powitanie i cele programu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40259" y="2264718"/>
            <a:ext cx="7407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2 × 45 min · Przedstawienie prowadzącego, uczestników, celów programu i agendy całego kursu. Ćwiczenie speed dating.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616696"/>
            <a:ext cx="620167" cy="9131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0259" y="2740670"/>
            <a:ext cx="74076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Blok 2 — Podstawy kompetencji cyfrowych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240259" y="3008933"/>
            <a:ext cx="74076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2 × 45 min · E-mail, chmura obliczeniowa, ochrona danych osobowych (RODO). Praktyczne ćwiczenia i przykłady z życia wolontariusza.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529831"/>
            <a:ext cx="620167" cy="9131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0259" y="3653805"/>
            <a:ext cx="74076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Blok 3 — Wprowadzenie do AI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240259" y="3922068"/>
            <a:ext cx="74076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4 × 45 min · Czym jest sztuczna inteligencja, jak działa, jak z niej korzystać odpowiedzialnie. Omówienie regulacji prawnych UE dotyczących AI.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9346"/>
            <a:ext cx="8151763" cy="569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8230" y="463823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8:00 – 9:30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58230" y="655737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1: Powitanie i cele programu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Przedstawienie, omówienie programu, ćwiczenie "speed dating".</a:t>
            </a:r>
            <a:endParaRPr lang="en-US" sz="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01837"/>
            <a:ext cx="8151763" cy="5697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8230" y="1106314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9:30 – 10:15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958230" y="1298228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2 (część 1): Podstawy kompetencji cyfrowych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Rozpoczęcie tematu e-maila, chmury obliczeniowej, ochrony danych.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44328"/>
            <a:ext cx="8151763" cy="5697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8230" y="1748805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10:15 – 10:25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958230" y="1940719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Przerwa kawowa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☕</a:t>
            </a:r>
            <a:endParaRPr lang="en-US" sz="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86819"/>
            <a:ext cx="8151763" cy="5697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8230" y="2391296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10:25 – 11:10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958230" y="2583210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2 (część 2): Podstawy kompetencji cyfrowych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Kontynuacja praktycznych ćwiczeń i przykładów.</a:t>
            </a:r>
            <a:endParaRPr lang="en-US" sz="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29310"/>
            <a:ext cx="8151763" cy="5697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8230" y="3033787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11:10 – 12:40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958230" y="3225701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3 (część 1): Wprowadzenie do AI 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Czym jest sztuczna inteligencja, jak działa i jak z niej korzystać.</a:t>
            </a:r>
            <a:endParaRPr lang="en-US" sz="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71801"/>
            <a:ext cx="8151763" cy="5697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58230" y="3676278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12:40 – 12:55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958230" y="3868192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Przerwa obiadowa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🥪</a:t>
            </a:r>
            <a:endParaRPr lang="en-US" sz="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214292"/>
            <a:ext cx="8151763" cy="5697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58230" y="4318769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12:55 – 14:25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958230" y="4510683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3 (część 2): Wprowadzenie do AI 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Omówienie regulacji prawnych UE i odpowiedzialnego wykorzystania AI.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5951"/>
            <a:ext cx="8151763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Mapa całego programu — 8 dni szkoleniowych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741090"/>
            <a:ext cx="8151763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Program rozłożony jest na </a:t>
            </a:r>
            <a:r>
              <a:rPr lang="en-US" sz="90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8 pełnych dni warsztatów</a:t>
            </a: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między lipcem a listopadem 2026 roku. Każde spotkanie buduje na poprzednim, prowadząc Was od podstaw do zaawansowanego stosowania AI w praktyce.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67238" y="1047601"/>
            <a:ext cx="9525" cy="3749873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5" name="Shape 3"/>
          <p:cNvSpPr/>
          <p:nvPr/>
        </p:nvSpPr>
        <p:spPr>
          <a:xfrm>
            <a:off x="4221770" y="1140916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6" name="Shape 4"/>
          <p:cNvSpPr/>
          <p:nvPr/>
        </p:nvSpPr>
        <p:spPr>
          <a:xfrm>
            <a:off x="4473885" y="1047601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7" name="Text 5"/>
          <p:cNvSpPr/>
          <p:nvPr/>
        </p:nvSpPr>
        <p:spPr>
          <a:xfrm>
            <a:off x="4506553" y="1063935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1077516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1 · 25.07.2026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1250528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Podstawy cyfrowe + Wprowadzenie do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0590" y="1612404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11" name="Shape 9"/>
          <p:cNvSpPr/>
          <p:nvPr/>
        </p:nvSpPr>
        <p:spPr>
          <a:xfrm>
            <a:off x="4473885" y="1519089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12" name="Text 10"/>
          <p:cNvSpPr/>
          <p:nvPr/>
        </p:nvSpPr>
        <p:spPr>
          <a:xfrm>
            <a:off x="4506553" y="1535423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8066" y="1549003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2 · 08.08.2026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08066" y="1722016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Bezpieczeństwo w sieci, Copilot / Claude / NotebookLM, generatywna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21770" y="2037531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16" name="Shape 14"/>
          <p:cNvSpPr/>
          <p:nvPr/>
        </p:nvSpPr>
        <p:spPr>
          <a:xfrm>
            <a:off x="4473885" y="1944216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17" name="Text 15"/>
          <p:cNvSpPr/>
          <p:nvPr/>
        </p:nvSpPr>
        <p:spPr>
          <a:xfrm>
            <a:off x="4506553" y="1960550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1974131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3 · 12.09.2026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119" y="2147143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Materiały prezentacyjne w Gamma.app, wystąpienia publiczne z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0590" y="2462659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21" name="Shape 19"/>
          <p:cNvSpPr/>
          <p:nvPr/>
        </p:nvSpPr>
        <p:spPr>
          <a:xfrm>
            <a:off x="4473885" y="2369344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22" name="Text 20"/>
          <p:cNvSpPr/>
          <p:nvPr/>
        </p:nvSpPr>
        <p:spPr>
          <a:xfrm>
            <a:off x="4506553" y="2385678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8066" y="2399258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4 · 19.09.2026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8066" y="2572271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Podstawy Pythona wspierane przez Copilota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21770" y="2887787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26" name="Shape 24"/>
          <p:cNvSpPr/>
          <p:nvPr/>
        </p:nvSpPr>
        <p:spPr>
          <a:xfrm>
            <a:off x="4473885" y="2794471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27" name="Text 25"/>
          <p:cNvSpPr/>
          <p:nvPr/>
        </p:nvSpPr>
        <p:spPr>
          <a:xfrm>
            <a:off x="4506553" y="2810805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119" y="2824386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5 · 26.09.2026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6119" y="2997398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SQL z AI, systemy agentowe i RAG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0590" y="3312914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31" name="Shape 29"/>
          <p:cNvSpPr/>
          <p:nvPr/>
        </p:nvSpPr>
        <p:spPr>
          <a:xfrm>
            <a:off x="4473885" y="3219599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32" name="Text 30"/>
          <p:cNvSpPr/>
          <p:nvPr/>
        </p:nvSpPr>
        <p:spPr>
          <a:xfrm>
            <a:off x="4506553" y="3235933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8066" y="3249513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6 · 17.10.2026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08066" y="3422526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Baza wiedzy w Obsidianie + Claude.ai, warsztaty z Bielik.ai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21770" y="3738042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36" name="Shape 34"/>
          <p:cNvSpPr/>
          <p:nvPr/>
        </p:nvSpPr>
        <p:spPr>
          <a:xfrm>
            <a:off x="4473885" y="3644726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37" name="Text 35"/>
          <p:cNvSpPr/>
          <p:nvPr/>
        </p:nvSpPr>
        <p:spPr>
          <a:xfrm>
            <a:off x="4506553" y="3661060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119" y="3674641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7 · 24.10.2026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6119" y="3847654"/>
            <a:ext cx="363981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Grafika i wideo generowane przez AI, AI Act w organizacjach pozarządowych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0590" y="4163169"/>
            <a:ext cx="261640" cy="9525"/>
          </a:xfrm>
          <a:prstGeom prst="roundRect">
            <a:avLst>
              <a:gd name="adj" fmla="val 384593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 sz="1800"/>
          </a:p>
        </p:txBody>
      </p:sp>
      <p:sp>
        <p:nvSpPr>
          <p:cNvPr id="41" name="Shape 39"/>
          <p:cNvSpPr/>
          <p:nvPr/>
        </p:nvSpPr>
        <p:spPr>
          <a:xfrm>
            <a:off x="4473885" y="4069854"/>
            <a:ext cx="196230" cy="196230"/>
          </a:xfrm>
          <a:prstGeom prst="roundRect">
            <a:avLst>
              <a:gd name="adj" fmla="val 1866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800"/>
          </a:p>
        </p:txBody>
      </p:sp>
      <p:sp>
        <p:nvSpPr>
          <p:cNvPr id="42" name="Text 40"/>
          <p:cNvSpPr/>
          <p:nvPr/>
        </p:nvSpPr>
        <p:spPr>
          <a:xfrm>
            <a:off x="4506553" y="4086188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08066" y="4099768"/>
            <a:ext cx="3639815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8 · 07.11.2026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08066" y="4272781"/>
            <a:ext cx="3639815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Praktyczne zastosowania AI w wolontariacie + podsumowanie i przygotowanie do uczenia innych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4499"/>
            <a:ext cx="4722763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Czego od nas oczekujecie? </a:t>
            </a:r>
            <a:r>
              <a:rPr lang="en-US" sz="2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092845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Zanim przejdziemy dalej, chcemy poznać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Wasze oczekiwania i obawy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To ważna część każdego dobrego szkolenia — program powinien odpowiadać na realne potrzeby uczestników. Zbieramy odpowiedzi wspólnie na flipcharcie lub w dokumencie współdzielonym.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026221"/>
            <a:ext cx="2299395" cy="1537097"/>
          </a:xfrm>
          <a:prstGeom prst="roundRect">
            <a:avLst>
              <a:gd name="adj" fmla="val 3389"/>
            </a:avLst>
          </a:prstGeom>
          <a:solidFill>
            <a:srgbClr val="FBF3ED"/>
          </a:solidFill>
          <a:ln w="14288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634380" y="2164482"/>
            <a:ext cx="20228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Co chcesz osiągnąć?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2432745"/>
            <a:ext cx="20228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chciałbyś/chciałabyś umieć robić po zakończeniu programu? Jakie konkretne umiejętności są dla Ciebie najważniejsze?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9487" y="2026221"/>
            <a:ext cx="2299395" cy="1537097"/>
          </a:xfrm>
          <a:prstGeom prst="roundRect">
            <a:avLst>
              <a:gd name="adj" fmla="val 3389"/>
            </a:avLst>
          </a:prstGeom>
          <a:solidFill>
            <a:srgbClr val="FBF3ED"/>
          </a:solidFill>
          <a:ln w="14288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3057748" y="2164482"/>
            <a:ext cx="20228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😟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Jakie masz obawy?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57748" y="2432745"/>
            <a:ext cx="202287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coś w związku z AI lub technologią budzi Twój niepokój? Żadna odpowiedź nie jest zła — szczerość pomaga nam dostosować program.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687291"/>
            <a:ext cx="4722763" cy="941710"/>
          </a:xfrm>
          <a:prstGeom prst="roundRect">
            <a:avLst>
              <a:gd name="adj" fmla="val 5532"/>
            </a:avLst>
          </a:prstGeom>
          <a:solidFill>
            <a:srgbClr val="FBF3ED"/>
          </a:solidFill>
          <a:ln w="14288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634380" y="3825553"/>
            <a:ext cx="44462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Co Cię tu przyciągnęło?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4380" y="4093815"/>
            <a:ext cx="444624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sprawiło, że zdecydowałeś/zdecydowałaś się wziąć udział w tym programie? Co motywuje Cię do nauki nowych kompetencji?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387"/>
            <a:ext cx="8151763" cy="386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Co będziesz potrafić w listopadzie? </a:t>
            </a:r>
            <a:r>
              <a:rPr lang="en-US" sz="2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76027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 ukończeniu wszystkich 8 dni szkoleniowych będziesz wyposażony/a w </a:t>
            </a:r>
            <a:r>
              <a:rPr lang="en-US" sz="95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kompletny zestaw kompetencji cyfrowych i AI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gotowy do użycia zarówno w codziennej pracy wolontaryjnej, jak i do przekazania innym.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98935"/>
            <a:ext cx="2637086" cy="1584424"/>
          </a:xfrm>
          <a:prstGeom prst="roundRect">
            <a:avLst>
              <a:gd name="adj" fmla="val 323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622920" y="1725737"/>
            <a:ext cx="366266" cy="366266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602" y="1826419"/>
            <a:ext cx="164827" cy="1648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2920" y="2212181"/>
            <a:ext cx="238348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Praca z narzędziami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920" y="2475012"/>
            <a:ext cx="238348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Samodzielnie korzystasz z ChatGPT, Claude, Copilot i NotebookLM w codziennej pracy i wolontariacie.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53383" y="1598935"/>
            <a:ext cx="2637160" cy="1584424"/>
          </a:xfrm>
          <a:prstGeom prst="roundRect">
            <a:avLst>
              <a:gd name="adj" fmla="val 323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3380184" y="1725737"/>
            <a:ext cx="366266" cy="366266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0867" y="1826419"/>
            <a:ext cx="164827" cy="1648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0184" y="2212181"/>
            <a:ext cx="238355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Tworzenie treści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0184" y="2475012"/>
            <a:ext cx="238355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Projektujesz własne prezentacje, grafiki, wideo i treści programistyczne w Pythonie i SQL.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10721" y="1598935"/>
            <a:ext cx="2637160" cy="1584424"/>
          </a:xfrm>
          <a:prstGeom prst="roundRect">
            <a:avLst>
              <a:gd name="adj" fmla="val 323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1"/>
          <p:cNvSpPr/>
          <p:nvPr/>
        </p:nvSpPr>
        <p:spPr>
          <a:xfrm>
            <a:off x="6137523" y="1725737"/>
            <a:ext cx="366266" cy="366266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8205" y="1826419"/>
            <a:ext cx="164827" cy="1648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7523" y="2212181"/>
            <a:ext cx="238355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Baza wiedzy i RAG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7523" y="2475012"/>
            <a:ext cx="238355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Budujesz własną bazę wiedzy w Obsidianie i korzystasz z zaawansowanych systemów agentowych i RAG.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96119" y="3303538"/>
            <a:ext cx="4015755" cy="1390576"/>
          </a:xfrm>
          <a:prstGeom prst="roundRect">
            <a:avLst>
              <a:gd name="adj" fmla="val 368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5"/>
          <p:cNvSpPr/>
          <p:nvPr/>
        </p:nvSpPr>
        <p:spPr>
          <a:xfrm>
            <a:off x="622920" y="3430339"/>
            <a:ext cx="366266" cy="366266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602" y="3531022"/>
            <a:ext cx="164827" cy="1648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920" y="3916784"/>
            <a:ext cx="376215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Bezpieczeństwo i AI Act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2920" y="4179615"/>
            <a:ext cx="37621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Rozumiesz zasady bezpieczeństwa w sieci, ochrony danych oraz regulacji unijnych dotyczących AI.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32052" y="3303538"/>
            <a:ext cx="4015829" cy="1390576"/>
          </a:xfrm>
          <a:prstGeom prst="roundRect">
            <a:avLst>
              <a:gd name="adj" fmla="val 368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19"/>
          <p:cNvSpPr/>
          <p:nvPr/>
        </p:nvSpPr>
        <p:spPr>
          <a:xfrm>
            <a:off x="4758854" y="3430339"/>
            <a:ext cx="366266" cy="366266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9536" y="3531022"/>
            <a:ext cx="164827" cy="1648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8854" y="3916784"/>
            <a:ext cx="376222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Multiplikator wiedzy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758854" y="4179615"/>
            <a:ext cx="376222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Jesteś gotowy/gotowa przekazywać zdobytą wiedzę dalej — jako przeszkolony wolontariusz-edukator w swojej społeczności.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79475"/>
            <a:ext cx="4722763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Zaczynamy! </a:t>
            </a:r>
            <a:r>
              <a:rPr lang="en-US" sz="2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🎉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257821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Mamy wszystko, czego potrzeba — świetną grupę, otwarty umysł i pełną agendę. Czas przejść do działania!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794272"/>
            <a:ext cx="4722763" cy="1835795"/>
          </a:xfrm>
          <a:prstGeom prst="roundRect">
            <a:avLst>
              <a:gd name="adj" fmla="val 283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3929881" y="1799034"/>
            <a:ext cx="4713238" cy="913135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4053855" y="1923008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Pytania przed startem?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53855" y="2191271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Jeśli masz jeszcze jakieś pytania organizacyjne lub merytoryczne — to najlepszy moment, żeby je zadać. Żadne pytanie nie jest zbyt proste!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29881" y="2712169"/>
            <a:ext cx="4713238" cy="913135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3929881" y="2712169"/>
            <a:ext cx="4713238" cy="14288"/>
          </a:xfrm>
          <a:prstGeom prst="roundRect">
            <a:avLst>
              <a:gd name="adj" fmla="val 364638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053855" y="2836143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Następny krok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3855" y="3104406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Przechodzimy do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Bloku 1: Podstawy kompetencji cyfrowych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e-mail, chmura, ochrona danych osobowych. Wygodnie usiądźcie i gotowi!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769593"/>
            <a:ext cx="4722763" cy="694432"/>
          </a:xfrm>
          <a:prstGeom prst="roundRect">
            <a:avLst>
              <a:gd name="adj" fmla="val 7502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092" y="3949378"/>
            <a:ext cx="155004" cy="1239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8071" y="3924523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Pamiętajcie: tempo dostosowujemy do grupy. Pytajcie śmiało — po to tu jesteśmy! 💪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16371</TotalTime>
  <Words>1309</Words>
  <Application>Microsoft Office PowerPoint</Application>
  <PresentationFormat>On-screen Show (16:9)</PresentationFormat>
  <Paragraphs>137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Karla</vt:lpstr>
      <vt:lpstr>Geologica Light</vt:lpstr>
      <vt:lpstr>Arial</vt:lpstr>
      <vt:lpstr>Geologica Medium</vt:lpstr>
      <vt:lpstr>Geologica</vt:lpstr>
      <vt:lpstr>Geologica SemiBold</vt:lpstr>
      <vt:lpstr>Karla Bold</vt:lpstr>
      <vt:lpstr>Twemoji Mozilla</vt:lpstr>
      <vt:lpstr>Simple Light</vt:lpstr>
      <vt:lpstr>Kompetencje cyfrowe i sztuczna inteligencja dla wolontariuszy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Kasper Kalfas</cp:lastModifiedBy>
  <cp:revision>37</cp:revision>
  <dcterms:modified xsi:type="dcterms:W3CDTF">2026-07-24T21:54:29Z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dddc05-6d75-4c89-ae8a-b8ab1a1994bc_Enabled">
    <vt:lpwstr>true</vt:lpwstr>
  </property>
  <property fmtid="{D5CDD505-2E9C-101B-9397-08002B2CF9AE}" pid="3" name="MSIP_Label_6ddddc05-6d75-4c89-ae8a-b8ab1a1994bc_SetDate">
    <vt:lpwstr>2025-11-27T22:59:01Z</vt:lpwstr>
  </property>
  <property fmtid="{D5CDD505-2E9C-101B-9397-08002B2CF9AE}" pid="4" name="MSIP_Label_6ddddc05-6d75-4c89-ae8a-b8ab1a1994bc_Method">
    <vt:lpwstr>Standard</vt:lpwstr>
  </property>
  <property fmtid="{D5CDD505-2E9C-101B-9397-08002B2CF9AE}" pid="5" name="MSIP_Label_6ddddc05-6d75-4c89-ae8a-b8ab1a1994bc_Name">
    <vt:lpwstr>without watermark</vt:lpwstr>
  </property>
  <property fmtid="{D5CDD505-2E9C-101B-9397-08002B2CF9AE}" pid="6" name="MSIP_Label_6ddddc05-6d75-4c89-ae8a-b8ab1a1994bc_SiteId">
    <vt:lpwstr>ff9ac3ce-3c41-41c3-b556-e1b32a662fed</vt:lpwstr>
  </property>
  <property fmtid="{D5CDD505-2E9C-101B-9397-08002B2CF9AE}" pid="7" name="MSIP_Label_6ddddc05-6d75-4c89-ae8a-b8ab1a1994bc_ActionId">
    <vt:lpwstr>4d2ddf13-8b8b-4459-8499-d889c9d828b0</vt:lpwstr>
  </property>
  <property fmtid="{D5CDD505-2E9C-101B-9397-08002B2CF9AE}" pid="8" name="MSIP_Label_6ddddc05-6d75-4c89-ae8a-b8ab1a1994bc_ContentBits">
    <vt:lpwstr>0</vt:lpwstr>
  </property>
  <property fmtid="{D5CDD505-2E9C-101B-9397-08002B2CF9AE}" pid="9" name="MSIP_Label_6ddddc05-6d75-4c89-ae8a-b8ab1a1994bc_Tag">
    <vt:lpwstr>50, 3, 0, 1</vt:lpwstr>
  </property>
</Properties>
</file>