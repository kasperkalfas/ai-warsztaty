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6" r:id="rId5"/>
    <p:sldId id="287" r:id="rId6"/>
    <p:sldId id="261" r:id="rId7"/>
    <p:sldId id="262" r:id="rId8"/>
    <p:sldId id="288" r:id="rId9"/>
    <p:sldId id="264" r:id="rId10"/>
    <p:sldId id="265" r:id="rId11"/>
    <p:sldId id="289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0" r:id="rId28"/>
    <p:sldId id="291" r:id="rId29"/>
    <p:sldId id="282" r:id="rId30"/>
    <p:sldId id="283" r:id="rId31"/>
    <p:sldId id="284" r:id="rId32"/>
    <p:sldId id="285" r:id="rId3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Geologica Light" pitchFamily="2" charset="0"/>
      <p:regular r:id="rId39"/>
    </p:embeddedFont>
    <p:embeddedFont>
      <p:font typeface="Geologica SemiBold" pitchFamily="2" charset="0"/>
      <p:regular r:id="rId40"/>
      <p:bold r:id="rId41"/>
    </p:embeddedFont>
    <p:embeddedFont>
      <p:font typeface="Karla" pitchFamily="2" charset="77"/>
      <p:regular r:id="rId42"/>
      <p:bold r:id="rId43"/>
    </p:embeddedFont>
    <p:embeddedFont>
      <p:font typeface="Karla Bold"/>
      <p:regular r:id="rId44"/>
      <p:bold r:id="rId4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72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1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116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D7C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3ED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00746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Kompetencje cyfrowe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96119" y="2237854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Szkolenie dla wolontariuszy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96119" y="2617738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Materiał szkoleniowy dla uczestników projektu przygotowujący do samodzielnego korzystania z technologii cyfrowych i wspierania innych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81298" y="3154189"/>
            <a:ext cx="1095747" cy="188565"/>
          </a:xfrm>
          <a:prstGeom prst="roundRect">
            <a:avLst>
              <a:gd name="adj" fmla="val 22104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 sz="20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712" y="3198837"/>
            <a:ext cx="99194" cy="991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4466" y="3191396"/>
            <a:ext cx="125536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15 UCZESTNIKÓW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139032" y="3154189"/>
            <a:ext cx="1536278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446" y="3198837"/>
            <a:ext cx="99194" cy="991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62200" y="3191396"/>
            <a:ext cx="169589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5 OBSZARÓW KOMPETENCJI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3737297" y="3154189"/>
            <a:ext cx="996330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1712" y="3198837"/>
            <a:ext cx="99194" cy="991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60465" y="3191396"/>
            <a:ext cx="115594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PROGRAM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19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Czym są kompetencje cyfrowe?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79576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Kompetencje cyfrowe to zestaw umiejętności, wiedzy i postaw, które pozwalają nam </a:t>
            </a:r>
            <a:r>
              <a:rPr lang="en-US" sz="10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świadomie, bezpiecznie i skutecznie</a:t>
            </a: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korzystać z technologii cyfrowych — w życiu codziennym, w pracy i w wolontariacie.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06822" y="2332211"/>
            <a:ext cx="4103191" cy="1651025"/>
          </a:xfrm>
          <a:prstGeom prst="roundRect">
            <a:avLst>
              <a:gd name="adj" fmla="val 5410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 sz="2400"/>
          </a:p>
        </p:txBody>
      </p:sp>
      <p:sp>
        <p:nvSpPr>
          <p:cNvPr id="5" name="Text 3"/>
          <p:cNvSpPr/>
          <p:nvPr/>
        </p:nvSpPr>
        <p:spPr>
          <a:xfrm>
            <a:off x="530796" y="2456185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Europejskie ramy DigComp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796" y="2774007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DigComp to standard opracowany przez Komisję Europejską. Wyróżnia </a:t>
            </a:r>
            <a:r>
              <a:rPr lang="en-US" sz="10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5 obszarów</a:t>
            </a: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kompetencji cyfrowych i </a:t>
            </a:r>
            <a:r>
              <a:rPr lang="en-US" sz="10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8 poziomów</a:t>
            </a: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zaawansowania — od podstawowego do specjalistycznego.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28046" y="245618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Co to oznacza w praktyce?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8046" y="2774007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Wyszukuję i oceniam informacje w sieci</a:t>
            </a:r>
            <a:endParaRPr lang="en-US" sz="10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Komunikuję się i współpracuję online</a:t>
            </a:r>
            <a:endParaRPr lang="en-US" sz="10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Tworzę treści i korzystam z narzędzi cyfrowych</a:t>
            </a:r>
            <a:endParaRPr lang="en-US" sz="10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Dbam o bezpieczeństwo swoje i innych</a:t>
            </a:r>
            <a:endParaRPr lang="en-US" sz="10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Rozwiązuję problemy techniczne samodzielnie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8881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Dlaczego to ważne dla wolontariusza?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349946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Jako wolontariusz pełnisz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podwójną rolę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: najpierw sam rozwijasz swoje kompetencje, a potem wspierasz innych w ich zdobywaniu. To wyjątkowa i odpowiedzialna pozycja.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2084859"/>
            <a:ext cx="4722763" cy="1835795"/>
          </a:xfrm>
          <a:prstGeom prst="roundRect">
            <a:avLst>
              <a:gd name="adj" fmla="val 2838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500881" y="2089621"/>
            <a:ext cx="4713238" cy="913135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624855" y="2213595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Uczę się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2481858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Rozwijam własne umiejętności cyfrowe, ćwiczę narzędzia i buduję pewność siebie w świecie technologii.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0881" y="3002756"/>
            <a:ext cx="4713238" cy="913135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500881" y="3002756"/>
            <a:ext cx="4713238" cy="14288"/>
          </a:xfrm>
          <a:prstGeom prst="roundRect">
            <a:avLst>
              <a:gd name="adj" fmla="val 364638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8"/>
          <p:cNvSpPr/>
          <p:nvPr/>
        </p:nvSpPr>
        <p:spPr>
          <a:xfrm>
            <a:off x="624855" y="3126730"/>
            <a:ext cx="44652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Uczę innych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4855" y="3394993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Przekazuję wiedzę seniorom, podopiecznym i lokalnej społeczności — cierpliwie, krok po kroku, bez żargonu.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4060180"/>
            <a:ext cx="4722763" cy="694432"/>
          </a:xfrm>
          <a:prstGeom prst="roundRect">
            <a:avLst>
              <a:gd name="adj" fmla="val 7502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4239964"/>
            <a:ext cx="155004" cy="1239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99071" y="4215110"/>
            <a:ext cx="4195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Pamiętaj: nie musisz wiedzieć wszystkiego! Ważniejsze jest, że wiesz, jak szukać pomocy i jak wspierać innych w trudnościach.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253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Czym są kompetencje cyfrowe?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141810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Kompetencje cyfrowe to zdolność do </a:t>
            </a:r>
            <a:r>
              <a:rPr lang="en-US" sz="10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pewnego, krytycznego i odpowiedzialnego</a:t>
            </a: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korzystania z technologii cyfrowych — w pracy, podczas nauki i w życiu codziennym. Unia Europejska opisuje je w ramach </a:t>
            </a:r>
            <a:r>
              <a:rPr lang="en-US" sz="10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DigComp</a:t>
            </a: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zestawie standardów obowiązujących w całej Europie.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954560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sp>
        <p:nvSpPr>
          <p:cNvPr id="5" name="Text 3"/>
          <p:cNvSpPr/>
          <p:nvPr/>
        </p:nvSpPr>
        <p:spPr>
          <a:xfrm>
            <a:off x="624855" y="2083296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Informacja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4855" y="2351559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Wyszukiwanie, ocena i zarządzanie danymi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54648" y="1954560"/>
            <a:ext cx="2634630" cy="922660"/>
          </a:xfrm>
          <a:prstGeom prst="roundRect">
            <a:avLst>
              <a:gd name="adj" fmla="val 5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sp>
        <p:nvSpPr>
          <p:cNvPr id="8" name="Text 6"/>
          <p:cNvSpPr/>
          <p:nvPr/>
        </p:nvSpPr>
        <p:spPr>
          <a:xfrm>
            <a:off x="3383384" y="2083296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Komunikacja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384" y="2351559"/>
            <a:ext cx="23771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Współpraca i kontakt online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13252" y="1954560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sp>
        <p:nvSpPr>
          <p:cNvPr id="11" name="Text 9"/>
          <p:cNvSpPr/>
          <p:nvPr/>
        </p:nvSpPr>
        <p:spPr>
          <a:xfrm>
            <a:off x="6141988" y="2083296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✏️</a:t>
            </a: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Tworzenie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41988" y="2351559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Tworzenie treści cyfrowych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3001194"/>
            <a:ext cx="4013820" cy="724198"/>
          </a:xfrm>
          <a:prstGeom prst="roundRect">
            <a:avLst>
              <a:gd name="adj" fmla="val 7194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sp>
        <p:nvSpPr>
          <p:cNvPr id="14" name="Text 12"/>
          <p:cNvSpPr/>
          <p:nvPr/>
        </p:nvSpPr>
        <p:spPr>
          <a:xfrm>
            <a:off x="624855" y="3129930"/>
            <a:ext cx="37563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Bezpieczeństwo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55" y="3398193"/>
            <a:ext cx="3756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Ochrona danych i prywatności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33913" y="3001194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 sz="2000"/>
          </a:p>
        </p:txBody>
      </p:sp>
      <p:sp>
        <p:nvSpPr>
          <p:cNvPr id="17" name="Text 15"/>
          <p:cNvSpPr/>
          <p:nvPr/>
        </p:nvSpPr>
        <p:spPr>
          <a:xfrm>
            <a:off x="4762649" y="3129930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🛠️</a:t>
            </a:r>
            <a:r>
              <a:rPr lang="en-US" sz="14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Rozwiązywanie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2649" y="3398193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Rozwiązywanie problemów technicznych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119" y="3864918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l-PL" sz="200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044702"/>
            <a:ext cx="155004" cy="1239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99071" y="4019848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DigComp to europejski standard — te kompetencje są cenione na rynku pracy i w wolontariacie.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61951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Obszar 1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135535"/>
            <a:ext cx="4722763" cy="534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Informacja i dane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3925119" y="2856458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Jak skutecznie wyszukiwać, oceniać i organizować informacje w sieci — i jak uczyć tego innych.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976295" y="3392909"/>
            <a:ext cx="729035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4050709" y="3430116"/>
            <a:ext cx="103740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OBSZAR 1 Z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111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Skuteczne wyszukiwanie informacji w internecie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96119" y="191668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Google i inne wyszukiwarki to potężne narzędzia — ale tylko wtedy, gdy wiesz, jak z nich korzystać. Dobre zapytanie to połowa sukcesu.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237864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Techniki wyszukiwania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6119" y="2696468"/>
            <a:ext cx="3924598" cy="1122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Używaj cudzysłowów do wyszukiwania dokładnej frazy: </a:t>
            </a:r>
            <a:r>
              <a:rPr lang="en-US" sz="10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"profil zaufany jak założyć"</a:t>
            </a:r>
            <a:endParaRPr lang="en-US" sz="100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Dodaj słowo </a:t>
            </a:r>
            <a:r>
              <a:rPr lang="en-US" sz="10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site:</a:t>
            </a: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aby szukać tylko na konkretnej stronie</a:t>
            </a:r>
            <a:endParaRPr lang="en-US" sz="100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Używaj prostych, konkretnych słów kluczowych</a:t>
            </a:r>
            <a:endParaRPr lang="en-US" sz="100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Sprawdź kilka różnych źródeł — nie ufaj pierwszemu wynikowi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38749" y="2254672"/>
            <a:ext cx="4103191" cy="1607641"/>
          </a:xfrm>
          <a:prstGeom prst="roundRect">
            <a:avLst>
              <a:gd name="adj" fmla="val 5556"/>
            </a:avLst>
          </a:prstGeom>
          <a:solidFill>
            <a:srgbClr val="0097A7"/>
          </a:solidFill>
          <a:ln/>
        </p:spPr>
        <p:txBody>
          <a:bodyPr/>
          <a:lstStyle/>
          <a:p>
            <a:endParaRPr lang="pl-PL" sz="2000"/>
          </a:p>
        </p:txBody>
      </p:sp>
      <p:sp>
        <p:nvSpPr>
          <p:cNvPr id="7" name="Text 5"/>
          <p:cNvSpPr/>
          <p:nvPr/>
        </p:nvSpPr>
        <p:spPr>
          <a:xfrm>
            <a:off x="4762723" y="237864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Ćwiczenie praktyczne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2723" y="2696468"/>
            <a:ext cx="3855244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Wyszukaj w internecie: </a:t>
            </a:r>
            <a:r>
              <a:rPr lang="en-US" sz="100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"jak zgłosić zmianę adresu zameldowania online"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Znajdź stronę rządową (.gov.pl) i porównaj z pierwszym wynikiem. Które źródło jest bardziej wiarygodne?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206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rozpoznać dezinformację i zweryfikować źródło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4763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 dobie fake newsów umiejętność krytycznej oceny informacji to jedna z najważniejszych kompetencji cyfrowych — szczególnie gdy pomagamy innym osobom poruszać się w sieci.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84090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206" y="2484090"/>
            <a:ext cx="214878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Sygnały ostrzegawcze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206" y="2752353"/>
            <a:ext cx="2148780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Sensacyjny tytuł, wielkie litery, wykrzykniki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Brak autora lub daty publikacji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Nieznana lub dziwna domena strony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2484090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30079" y="2484090"/>
            <a:ext cx="21488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weryfikować?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730079" y="2752353"/>
            <a:ext cx="2148855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Demagog.org.pl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– polski fact-checking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Fakenews.pl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– baza </a:t>
            </a:r>
            <a:r>
              <a:rPr lang="en-US" sz="95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fałszywych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informacji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939" y="2484090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9027" y="2484090"/>
            <a:ext cx="21488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Pytania do refleksji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99027" y="2752353"/>
            <a:ext cx="2148855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Kto jest autorem? Jaki ma interes?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inne media potwierdzają tę informację?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Kiedy to zostało opublikowane?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616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Organizacja plików i danych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7173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Chaos na komputerze to stracony czas. Kilka prostych zasad pozwoli Tobie i osobom, którym pomagasz, zawsze znaleźć to, czego szukacie.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09726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206" y="2209726"/>
            <a:ext cx="214878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System folderów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206" y="2477988"/>
            <a:ext cx="2148780" cy="60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Twórz foldery tematyczne: </a:t>
            </a:r>
            <a:r>
              <a:rPr lang="en-US" sz="950" dirty="0">
                <a:solidFill>
                  <a:srgbClr val="000000"/>
                </a:solidFill>
                <a:highlight>
                  <a:srgbClr val="EEE6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Zdrowie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</a:t>
            </a:r>
            <a:r>
              <a:rPr lang="en-US" sz="950" dirty="0">
                <a:solidFill>
                  <a:srgbClr val="000000"/>
                </a:solidFill>
                <a:highlight>
                  <a:srgbClr val="EEE6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Urząd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</a:t>
            </a:r>
            <a:r>
              <a:rPr lang="en-US" sz="950" dirty="0">
                <a:solidFill>
                  <a:srgbClr val="000000"/>
                </a:solidFill>
                <a:highlight>
                  <a:srgbClr val="EEE6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Rodzina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Unikaj trzymania wszystkiego na pulpicie.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2209726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30079" y="2209726"/>
            <a:ext cx="21488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Nazewnictwo plików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730079" y="2477988"/>
            <a:ext cx="2148855" cy="609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Używaj dat i opisów: </a:t>
            </a:r>
            <a:r>
              <a:rPr lang="en-US" sz="950" dirty="0">
                <a:solidFill>
                  <a:srgbClr val="000000"/>
                </a:solidFill>
                <a:highlight>
                  <a:srgbClr val="EEE6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2024-01-wniosek-ZUS.pdf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Unikaj nazw: </a:t>
            </a:r>
            <a:r>
              <a:rPr lang="en-US" sz="950" dirty="0">
                <a:solidFill>
                  <a:srgbClr val="000000"/>
                </a:solidFill>
                <a:highlight>
                  <a:srgbClr val="EEE6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dokument1.pdf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939" y="2209726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9027" y="2209726"/>
            <a:ext cx="21488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Kopie zapasowe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99027" y="2477988"/>
            <a:ext cx="214885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3-2-1: 3 kopie, na 2 różnych nośnikach, 1 poza domem (np. w chmurze). Google Drive i OneDrive są bezpłatne.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3411364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92" y="3591148"/>
            <a:ext cx="155004" cy="1239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71" y="3566294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Ćwiczenie: Otwórzcie folder „Dokumenty" na swoim urządzeniu. Ile plików jest bez sensownej nazwy?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340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e-Usługi publiczne w Polsce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4897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Polska ma rozbudowany system e-administracji. Wolontariusz, który go zna, może pomóc podopiecznym załatwić sprawy bez wychodzenia z domu.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85429"/>
            <a:ext cx="2634555" cy="17107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0379" y="1990279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380" y="2395761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Profil Zaufany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4380" y="2664023"/>
            <a:ext cx="235803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Bezpłatna „elektroniczna tożsamość" — umożliwia logowanie do wszystkich urzędów online. Zakłada się przez bank lub osobiście.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648" y="1885429"/>
            <a:ext cx="2634630" cy="171070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908" y="1990279"/>
            <a:ext cx="186035" cy="186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392909" y="2395761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mObywatel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3392909" y="2664023"/>
            <a:ext cx="235810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Aplikacja na smartfon zastępująca dowód osobisty. Zawiera prawo jazdy, legitymację, historię recept.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52" y="1885429"/>
            <a:ext cx="2634555" cy="171070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7512" y="1990279"/>
            <a:ext cx="186035" cy="18603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51513" y="2395761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ePUAP / gov.pl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6151513" y="2664023"/>
            <a:ext cx="235803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Portal do składania podań, wniosków i odbioru pism urzędowych. Wszystko bez kolejki, przez internet.</a:t>
            </a:r>
            <a:endParaRPr lang="en-US" sz="950" dirty="0"/>
          </a:p>
        </p:txBody>
      </p:sp>
      <p:sp>
        <p:nvSpPr>
          <p:cNvPr id="16" name="Shape 8"/>
          <p:cNvSpPr/>
          <p:nvPr/>
        </p:nvSpPr>
        <p:spPr>
          <a:xfrm>
            <a:off x="496119" y="3735660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92" y="3915445"/>
            <a:ext cx="155004" cy="123974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99071" y="3890590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Wskazówka dla wolontariusza: Zawsze towarzysz podopiecznemu przy pierwszym logowaniu — nigdy nie loguj się za niego bez jego zgody i wiedzy.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26319"/>
            <a:ext cx="591964" cy="188565"/>
          </a:xfrm>
          <a:prstGeom prst="roundRect">
            <a:avLst>
              <a:gd name="adj" fmla="val 22104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3999533" y="1663526"/>
            <a:ext cx="90033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OBSZAR 2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864444"/>
            <a:ext cx="4722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Komunikacja i współpraca online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3925119" y="3120256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E-mail, komunikatory, wideokonferencje i praca w chmurze — narzędzia codziennej współpracy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057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Poczta elektroniczna — zasady i netykieta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98129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📧</a:t>
            </a: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Struktura dobrego e-maila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015951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Temat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krótki i konkretny (np. „Prośba o termin wizyty")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Powitanie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„Szanowna Pani", „Dzień dobry"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Treść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jeden temat, krótkie akapity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Zakończenie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„Z poważaniem" lub „Pozdrawiam"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Podpis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imię, nazwisko, kontakt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728046" y="1698129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Dobre praktyki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28046" y="2015951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używaj CAPS LOCK — to jak krzyk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Sprawdź adresata przed wysłaniem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otwieraj załączników od nieznajomych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Odpowiadaj w ciągu 24–48 godzin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Używaj DW (do wiadomości) ostrożnie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28046" y="3321323"/>
            <a:ext cx="3924598" cy="682079"/>
          </a:xfrm>
          <a:prstGeom prst="roundRect">
            <a:avLst>
              <a:gd name="adj" fmla="val 763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505870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30998" y="3463900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Ćwiczenie: Napisz e-mail do urzędu z prośbą o informację. Poproś sąsiada, by ocenił ton wiadomości.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330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Komunikatory i wideokonferencje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3887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Zoom, Microsoft Teams i Google Meet to dziś standardowe narzędzia pracy zdalnej i wolontariatu. Warto znać podstawy każdego z nich — bo różne organizacje korzystają z różnych platform.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75321"/>
            <a:ext cx="1150069" cy="7107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841054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Zoom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3109317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Popularne w edukacji i NGO. Bezpłatne spotkania do 40 minut. Łatwe dołączanie przez link.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991" y="1975321"/>
            <a:ext cx="1150069" cy="7107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991" y="2841054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Microsoft Teams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4991" y="3109317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Integracja z pakietem Office. Często używany w instytucjach. Czat, pliki i wideo w jednym miejscu.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39" y="1975321"/>
            <a:ext cx="1150069" cy="7107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939" y="2841054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Google Meet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3939" y="3109317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Działa przez przeglądarkę, bez instalacji. Bezpłatny z kontem Google. Prosty i intuicyjny.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3844230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92" y="4024015"/>
            <a:ext cx="155004" cy="1239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71" y="3999161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Wskazówka dla wolontariusza: ucząc seniora wideokonferencji, zacznij od jednej platformy — tej, której używa jego rodzina lub lekarz.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772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Praca w chmurze i współdzielenie plików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1329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Chmura umożliwia dostęp do dokumentów z każdego urządzenia i współpracę w czasie rzeczywistym — bez wysyłania plików e-mailem.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9512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147739"/>
            <a:ext cx="4013895" cy="14288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96119" y="2238301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Utwórz konto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506563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Google Workspace (Gmail) lub Microsoft 365 (Outlook) — bezpłatne wersje wystarczą do większości zadań.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19512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147739"/>
            <a:ext cx="4013895" cy="14288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633987" y="2238301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Prześlij lub utwórz plik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506563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 Google Drive kliknij „Nowy" → wybierz Dokument, Arkusz lub Prezentację. Plik jest automatycznie zapisywany.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12047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316932"/>
            <a:ext cx="4013895" cy="14288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96119" y="3407494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Udostępnij odpowiedniej osobie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675757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Kliknij „Udostępnij" → wpisz adres e-mail → wybierz uprawnienia: „Wyświetlanie" lub „Edycja".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12047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ologica Light" pitchFamily="34" charset="0"/>
                <a:ea typeface="Geologica Light" pitchFamily="34" charset="-122"/>
                <a:cs typeface="Geologica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316932"/>
            <a:ext cx="4013895" cy="14288"/>
          </a:xfrm>
          <a:prstGeom prst="rect">
            <a:avLst/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633987" y="3407494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Pracujcie razem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675757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Kilka osób może edytować dokument jednocześnie. Komentarze i sugestie zastępują „śledzenie zmian".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48630"/>
            <a:ext cx="4722763" cy="6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Smartfon jako narzędzie wolontariusza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496119" y="1135187"/>
            <a:ext cx="4722763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Smartfon to dziś centrum dowodzenia — komunikacja, nawigacja, zdrowie, płatności. Znając go dobrze, możesz pomóc innym go oswoić.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96119" y="1543348"/>
            <a:ext cx="4722763" cy="589657"/>
          </a:xfrm>
          <a:prstGeom prst="roundRect">
            <a:avLst>
              <a:gd name="adj" fmla="val 745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605507" y="1652736"/>
            <a:ext cx="450398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📞</a:t>
            </a: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Komunikacja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5507" y="1869207"/>
            <a:ext cx="45039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WhatsApp, Messenger — bezpłatne rozmowy i wideo przez Wi-Fi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96119" y="2221260"/>
            <a:ext cx="4722763" cy="589657"/>
          </a:xfrm>
          <a:prstGeom prst="roundRect">
            <a:avLst>
              <a:gd name="adj" fmla="val 745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605507" y="2330648"/>
            <a:ext cx="450398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🧭</a:t>
            </a: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Nawigacja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5507" y="2547119"/>
            <a:ext cx="45039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Google Maps — trasy, rozkłady jazdy, lokalizacja apteki czy lekarza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6119" y="2899172"/>
            <a:ext cx="4722763" cy="589657"/>
          </a:xfrm>
          <a:prstGeom prst="roundRect">
            <a:avLst>
              <a:gd name="adj" fmla="val 745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605507" y="3008561"/>
            <a:ext cx="450398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💊</a:t>
            </a: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Zdrowie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507" y="3225031"/>
            <a:ext cx="45039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mObywatel, recepty online, umawianie wizyt przez portal pacjenta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6119" y="3577084"/>
            <a:ext cx="4722763" cy="589657"/>
          </a:xfrm>
          <a:prstGeom prst="roundRect">
            <a:avLst>
              <a:gd name="adj" fmla="val 745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605507" y="3686473"/>
            <a:ext cx="450398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💳</a:t>
            </a:r>
            <a:r>
              <a:rPr lang="en-US" sz="10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Płatności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5507" y="3902943"/>
            <a:ext cx="45039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BLIK, Google Pay — szybkie i bezpieczne płatności bez gotówki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96119" y="4266084"/>
            <a:ext cx="4722763" cy="528786"/>
          </a:xfrm>
          <a:prstGeom prst="roundRect">
            <a:avLst>
              <a:gd name="adj" fmla="val 8313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45" y="4410001"/>
            <a:ext cx="130820" cy="1046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6191" y="4380458"/>
            <a:ext cx="4278064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Pamiętaj: Ucząc obsługi smartfona, zawsze ćwicz na urządzeniu podopiecznego — nie na swoim.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94507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Obszar 3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868091"/>
            <a:ext cx="4722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Tworzenie treści cyfrowych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3925119" y="312390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Dokumenty, grafika i sztuczna inteligencja — jak tworzyć i jak uczyć tworzenia w praktyce.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3660353"/>
            <a:ext cx="722635" cy="188565"/>
          </a:xfrm>
          <a:prstGeom prst="roundRect">
            <a:avLst>
              <a:gd name="adj" fmla="val 22104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3999533" y="3697560"/>
            <a:ext cx="103100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SLAJDY 15–18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709740" y="3660353"/>
            <a:ext cx="754856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F66A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4784154" y="3697560"/>
            <a:ext cx="106322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66A53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OBSZAR 3 Z 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094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Podstawy pracy z dokumentami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36514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Edytor tekstu, arkusz kalkulacyjny i prezentacja — trzy filary pracy biurowej i wolontariackiej. Nie musisz znać wszystkiego, ale kilka kluczowych funkcji jest niezbędnych.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72965"/>
            <a:ext cx="2634555" cy="1334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2311226"/>
            <a:ext cx="230088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📝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Edytor tekstu (Word / Dokumenty Google)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1530" y="2773338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Pisanie podań, notatek, protokołów. Kluczowe: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formatowanie akapitów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wstawianie tabeli, zapis jako PDF.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648" y="2172965"/>
            <a:ext cx="2634630" cy="1334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0059" y="2311226"/>
            <a:ext cx="230095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Arkusz kalkulacyjny (Excel / Arkusze Google)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50059" y="2773338"/>
            <a:ext cx="23009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Listy, budżety, harmonogramy. Kluczowe: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proste formuły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(SUMA, ŚREDNIA), sortowanie, filtrowanie.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52" y="2172965"/>
            <a:ext cx="2634555" cy="13340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08663" y="2311226"/>
            <a:ext cx="230088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📽️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Prezentacje (PowerPoint / Prezentacje Google)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08663" y="2773338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Szkolenia, sprawozdania, projekty. Kluczowe: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przejrzyste slajdy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max 5 punktów na slajd, dobry kontrast.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3646512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3826297"/>
            <a:ext cx="155004" cy="1239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71" y="3801442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Wskazówka: Google Workspace jest bezpłatny i działa w przeglądarce — żadnej instalacji, synchronizacja automatyczna.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149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Proste narzędzia graficzne — Canva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1905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Czym jest Canva?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136874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Canva to bezpłatne narzędzie online do tworzenia grafik — plakatów, ulotek, postów, certyfikatów. Nie wymaga umiejętności graficznych.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657773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zacząć?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975595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Wejdź na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canva.com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i załóż bezpłatne konto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Wybierz szablon (np. „Plakat A4")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Zmień tekst i zdjęcia na własne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Pobierz jako PDF lub JPG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81905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Zastosowania w wolontariacie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136874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Ulotka informacyjna dla seniorów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Certyfikat ukończenia szkolenia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Post na media społecznościowe organizacji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Harmonogram zajęć lub plan dnia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8046" y="3200400"/>
            <a:ext cx="3924598" cy="682079"/>
          </a:xfrm>
          <a:prstGeom prst="roundRect">
            <a:avLst>
              <a:gd name="adj" fmla="val 7638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384947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30998" y="3342977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Ćwiczenie: Stwórzcie w Canva prostą ulotkę z 3 zasadami bezpiecznego korzystania z internetu — dla seniora.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231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Sztuczna inteligencja jako pomocnik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77888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Narzędzia AI, takie jak ChatGPT, Copilot czy Gemini, mogą oszczędzić czas i ułatwić pracę — ale wymagają krytycznego podejścia.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15877"/>
            <a:ext cx="8151763" cy="1449735"/>
          </a:xfrm>
          <a:prstGeom prst="roundRect">
            <a:avLst>
              <a:gd name="adj" fmla="val 3594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00881" y="2020639"/>
            <a:ext cx="4071119" cy="1440210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24855" y="2144613"/>
            <a:ext cx="38231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Co AI robi dobrze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412876"/>
            <a:ext cx="3823171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Pisanie pierwszych wersji tekstów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Tłumaczenie i korygowanie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Streszczanie długich dokumentów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Generowanie pomysłów i planów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2020639"/>
            <a:ext cx="4071119" cy="1440210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572000" y="2020639"/>
            <a:ext cx="14288" cy="1440210"/>
          </a:xfrm>
          <a:prstGeom prst="roundRect">
            <a:avLst>
              <a:gd name="adj" fmla="val 364638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695974" y="2144613"/>
            <a:ext cx="38231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Granice i ryzyka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5974" y="2412876"/>
            <a:ext cx="3823171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AI może się mylić — zawsze sprawdzaj fakty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wpisuj danych osobowych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Wyniki mogą być stronnicze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zastąpi ludzkiego osądu i empatii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605138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84922"/>
            <a:ext cx="155004" cy="1239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9071" y="3760068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Złota zasada: AI to asystent, nie autorytet. Zawsze weryfikuj to, co wygeneruje.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626319"/>
            <a:ext cx="589880" cy="188565"/>
          </a:xfrm>
          <a:prstGeom prst="roundRect">
            <a:avLst>
              <a:gd name="adj" fmla="val 22104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570533" y="1663526"/>
            <a:ext cx="89825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OBSZAR 4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1864444"/>
            <a:ext cx="4722763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Bezpieczeństwo w sieci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496119" y="3120256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Chroń siebie i osoby, którym pomagasz — praktyczne zasady bezpiecznego korzystania z internetu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477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Ochrona danych osobowych i RODO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0034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RODO to nie tylko biurokratyczny obowiązek — to realna ochrona prywatności Twoich podopiecznych. Jako wolontariusz możesz mieć dostęp do wrażliwych danych.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36800"/>
            <a:ext cx="8151763" cy="1406351"/>
          </a:xfrm>
          <a:prstGeom prst="roundRect">
            <a:avLst>
              <a:gd name="adj" fmla="val 3705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500881" y="2141562"/>
            <a:ext cx="4071119" cy="1396826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24855" y="2265536"/>
            <a:ext cx="36370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Co wolno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533799"/>
            <a:ext cx="3637062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Zbierać dane tylko za zgodą osoby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Używać danych tylko do celu, w jakim je zebrano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Przechowywać dane bezpiecznie (hasło, szyfrowanie)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2141562"/>
            <a:ext cx="4071119" cy="1396826"/>
          </a:xfrm>
          <a:prstGeom prst="rect">
            <a:avLst/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572000" y="2141562"/>
            <a:ext cx="14288" cy="1396826"/>
          </a:xfrm>
          <a:prstGeom prst="roundRect">
            <a:avLst>
              <a:gd name="adj" fmla="val 364638"/>
            </a:avLst>
          </a:prstGeom>
          <a:solidFill>
            <a:srgbClr val="E2BBB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882083" y="2265536"/>
            <a:ext cx="36370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Czego unikać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82083" y="2533799"/>
            <a:ext cx="3637062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Udostępniania danych podopiecznych bez zgody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Fotografowania dokumentów i wysyłania ich przez komunikatory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Przechowywania PESEL-u w notatniku telefonu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16996" y="2684897"/>
            <a:ext cx="310083" cy="310083"/>
          </a:xfrm>
          <a:prstGeom prst="roundRect">
            <a:avLst>
              <a:gd name="adj" fmla="val 16802"/>
            </a:avLst>
          </a:prstGeom>
          <a:solidFill>
            <a:srgbClr val="FBF3ED"/>
          </a:solidFill>
          <a:ln w="14288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4535" y="2762362"/>
            <a:ext cx="155004" cy="1550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96119" y="3682678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3862462"/>
            <a:ext cx="155004" cy="1239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99071" y="3837608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minimum: zbieraj tylko te dane, które są naprawdę niezbędne do działania.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302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Silne hasła i weryfikacja dwuetapowa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396603"/>
            <a:ext cx="4103191" cy="2923803"/>
          </a:xfrm>
          <a:prstGeom prst="roundRect">
            <a:avLst>
              <a:gd name="adj" fmla="val 3055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30796" y="1520577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stworzyć silne hasło?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838399"/>
            <a:ext cx="3855244" cy="110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Silne hasło to takie, które jest długie i losowe — ale da się je zapamiętać.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Metoda zdania: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Weź zdanie: „Mój kot ma 3 łapy i jest rudy!"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Hasło: </a:t>
            </a:r>
            <a:r>
              <a:rPr lang="en-US" sz="950" dirty="0">
                <a:solidFill>
                  <a:srgbClr val="000000"/>
                </a:solidFill>
                <a:highlight>
                  <a:srgbClr val="3D83C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MKm3łijR!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796" y="3058716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Minimum 12 znaków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Wielkie i małe litery, cyfry, znaki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Inne hasło do każdego serwisu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52057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Weryfikacja dwuetapowa (2FA)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1838399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Nawet jeśli ktoś pozna Twoje hasło, nie zaloguje się bez drugiego kroku — kodu SMS lub aplikacji.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35929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włączyć?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2677120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Wejdź w ustawienia konta (np. Gmail)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Znajdź „Weryfikacja dwuetapowa"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Podaj numer telefonu lub pobierz aplikację Google Authenticator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8046" y="3498800"/>
            <a:ext cx="3924598" cy="682079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683347"/>
            <a:ext cx="155004" cy="12397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30998" y="3641378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Menedżery haseł (np. Bitwarden) zapamiętają wszystkie hasła za Ciebie — bezpłatnie.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213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Phishing i oszustwa internetowe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6770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Phishing to próba wyłudzenia danych przez podszywanie się pod zaufane instytucje. Naucz się i ucz innych rozpoznawać te sygnały — zanim będzie za późno.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304157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1206" y="2304157"/>
            <a:ext cx="214878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Podejrzany e-mail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61206" y="2572420"/>
            <a:ext cx="2148780" cy="79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Nadawca wygląda znajomo, ale adres jest dziwny (</a:t>
            </a:r>
            <a:r>
              <a:rPr lang="en-US" sz="950" dirty="0">
                <a:solidFill>
                  <a:srgbClr val="000000"/>
                </a:solidFill>
                <a:highlight>
                  <a:srgbClr val="EEE6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bank@secure-login.ru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). Treść żąda pilnego działania lub podania hasła.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2304157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30079" y="2304157"/>
            <a:ext cx="21488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Fałszywy telefon (vishing)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730079" y="2572420"/>
            <a:ext cx="214885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„Dzwonię z banku, Pana konto jest zagrożone." Prawdziwy bank nigdy nie pyta o PIN ani hasło przez telefon.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939" y="2304157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9027" y="2304157"/>
            <a:ext cx="21488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Fałszywa strona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99027" y="2572420"/>
            <a:ext cx="214885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Adres bardzo podobny do oryginalnego: </a:t>
            </a:r>
            <a:r>
              <a:rPr lang="en-US" sz="950" dirty="0">
                <a:solidFill>
                  <a:srgbClr val="000000"/>
                </a:solidFill>
                <a:highlight>
                  <a:srgbClr val="EEE6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pko-bp.com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zamiast </a:t>
            </a:r>
            <a:r>
              <a:rPr lang="en-US" sz="950" dirty="0">
                <a:solidFill>
                  <a:srgbClr val="000000"/>
                </a:solidFill>
                <a:highlight>
                  <a:srgbClr val="EEE6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pkobp.pl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. Zawsze sprawdzaj kłódkę i adres URL.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3515320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92" y="3695105"/>
            <a:ext cx="155004" cy="1239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71" y="3670250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Zasada STOP: Zatrzymaj się → Przemyśl → Oceń → Postąp ostrożnie. Nigdy nie klikaj pod presją czasu.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164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Bezpieczeństwo osób, którym pomagamy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0722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Seniorzy i dzieci są szczególnie narażeni na zagrożenia cyfrowe. Jako wolontariusz masz wyjątkową odpowiedzialność za ich ochronę.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45209"/>
            <a:ext cx="4013895" cy="18266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8652" y="2256830"/>
            <a:ext cx="148828" cy="1488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380" y="2641327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Ochrona seniorów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4380" y="2909590"/>
            <a:ext cx="3737372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Ostrzeż przed „wnuczkiem" i fałszywymi kurierami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Pomóż ustawić silne hasło i blokadę ekranu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Wyjaśnij, że bank nigdy nie pyta o PIN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Regularnie sprawdzaj, czy nie ma dziwnych aplikacji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987" y="2145209"/>
            <a:ext cx="4013895" cy="182664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6520" y="2256830"/>
            <a:ext cx="148828" cy="14882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772248" y="2641327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Ochrona dzieci online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772248" y="2909590"/>
            <a:ext cx="3737372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Nie udostępniaj zdjęć dzieci bez zgody rodziców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Pamiętaj o kontroli rodzicielskiej i limitach czasu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Rozmawiaj o tym, co dziecko robi online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Naucz je mówić „nie" i informować dorosłych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182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Higiena cyfrowa i dobrostan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3739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Technologia ma służyć człowiekowi, nie odwrotnie. Zdrowy balans między światem online i offline jest kluczowy — dla Ciebie i Twoich podopiecznych.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73846"/>
            <a:ext cx="4013895" cy="1121122"/>
          </a:xfrm>
          <a:prstGeom prst="roundRect">
            <a:avLst>
              <a:gd name="adj" fmla="val 4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24855" y="2202582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Czas ekranu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470845"/>
            <a:ext cx="37564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Ustal godziny „bez telefonu" — podczas posiłków, przed snem. Narzędzia: Cyfrowe samopoczucie (Android) lub Czas przed ekranem (iOS).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2073846"/>
            <a:ext cx="4013895" cy="1121122"/>
          </a:xfrm>
          <a:prstGeom prst="roundRect">
            <a:avLst>
              <a:gd name="adj" fmla="val 4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762723" y="2202582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Powiadomienia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2723" y="2470845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Wyłącz niepotrzebne powiadomienia. Zostaw tylko te naprawdę ważne — mniej rozpraszania, więcej skupienia.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318942"/>
            <a:ext cx="4013895" cy="922660"/>
          </a:xfrm>
          <a:prstGeom prst="roundRect">
            <a:avLst>
              <a:gd name="adj" fmla="val 5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24855" y="3447678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🧘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Cyfrowy detoks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55" y="3715941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Jeden dzień w tygodniu bez mediów społecznościowych. Zaobserwuj, jak się czujesz bez ciągłego scrollowania.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3318942"/>
            <a:ext cx="4013895" cy="922660"/>
          </a:xfrm>
          <a:prstGeom prst="roundRect">
            <a:avLst>
              <a:gd name="adj" fmla="val 5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762723" y="3447678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💤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Higiena snu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723" y="3715941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Brak telefonu w sypialni lub tryb nocny po 21:00. Niebieskie światło zaburza zasypianie — u nas i u seniorów.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458069"/>
            <a:ext cx="590476" cy="188565"/>
          </a:xfrm>
          <a:prstGeom prst="roundRect">
            <a:avLst>
              <a:gd name="adj" fmla="val 22104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1"/>
          <p:cNvSpPr/>
          <p:nvPr/>
        </p:nvSpPr>
        <p:spPr>
          <a:xfrm>
            <a:off x="3999533" y="1495276"/>
            <a:ext cx="89884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OBSZAR 5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696194"/>
            <a:ext cx="4722763" cy="1604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5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Rozwiązywanie problemów technicznych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3696519" y="3486894"/>
            <a:ext cx="5179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Jak działać samodzielnie, wspierać dostępność i wiedzieć, gdzie szukać pomocy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540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Typowe problemy techniczne i jak sobie z nimi radzić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9097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Każdy użytkownik technologii napotyka problemy. Kluczem jest spokojna, systematyczna reakcja — i wiedza, co sprawdzić w pierwszej kolejności.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27424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42627" y="215067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9145" y="2170063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Urządzenie nie reaguje lub działa wolno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9145" y="2438326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Uruchom ponownie — to rozwiązuje 80% problemów. Sprawdź, czy nie ma zbyt wielu otwartych programów lub kart przeglądarki.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49465" y="2127424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695974" y="215067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52492" y="2170063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Brak internetu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52492" y="2438326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Sprawdź, czy Wi-Fi jest włączone. Uruchom ponownie router (wyłącz, odczekaj 30 sekund, włącz). Sprawdź, czy inni w pobliżu mają ten sam problem.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28173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42627" y="330498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9145" y="3324374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Program przestał działać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9145" y="3592637"/>
            <a:ext cx="3595315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Zamknij program i otwórz go ponownie. Sprawdź, czy są dostępne aktualizacje. Poszukaj rozwiązania na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Google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wpisując dokładny komunikat błędu.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9465" y="328173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695974" y="330498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52492" y="3324374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Nie pamiętam hasła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52492" y="3592637"/>
            <a:ext cx="35953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Użyj opcji "Zapomniałem hasła" na stronie logowania. Do resetowania potrzebujesz dostępu do e-maila lub numeru telefonu.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5313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Typowe problemy techniczne — jak sobie radzić?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8870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Większość codziennych problemów technicznych rozwiązuje się w kilka minut. Zanim zadzwonisz do serwisu, sprawdź te kroki.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26692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42627" y="224994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9145" y="2269331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Zrestartuj urządzenie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9145" y="2537594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Rozwiązuje 60% problemów. Wyłącz całkowicie, odczekaj 30 sekund, włącz ponownie.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49465" y="2226692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695974" y="2249946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52492" y="2269331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Sprawdź połączenie z internetem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52492" y="2537594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 inne urządzenia mają internet? Jeśli nie — restart routera. Jeśli tak — problem jest lokalny.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18254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42627" y="320579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9145" y="3225180"/>
            <a:ext cx="35953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Zaktualizuj oprogramowanie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9145" y="3493443"/>
            <a:ext cx="359531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Wiele błędów wynika z przestarzałego systemu lub aplikacji. Sprawdź dostępne aktualizacje w ustawieniach.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49465" y="3182541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695974" y="320579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52492" y="3225180"/>
            <a:ext cx="3595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Szukaj odpowiedzi w Google lub YouTube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52492" y="3493443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Wpisz dokładny komunikat błędu w cudzysłowie. Na YouTube znajdziesz filmy „krok po kroku" do niemal każdego problemu.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5751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Dostępność cyfrowa — wsparcie osób ze szczególnymi potrzebami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08870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Dobra technologia jest dostępna dla wszystkich. Wbudowane funkcje ułatwień dostępu w smartfonach i komputerach mogą diametralnie zmienić możliwości podopiecznych.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45321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910408"/>
            <a:ext cx="26138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Słabowzroczność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3178671"/>
            <a:ext cx="2613868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Powiększenie czcionki (Ustawienia → Dostępność)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Wysoki kontrast lub tryb ciemny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Czytnik ekranu: TalkBack (Android), VoiceOver (iOS)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2445321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991" y="2910408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Problemy ze słuchem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4991" y="3178671"/>
            <a:ext cx="2613943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Napisy w filmach i rozmowach wideo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Wizualne powiadomienia zamiast dźwięku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Transkrypcja w Google Meet i Teams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939" y="2445321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939" y="2910408"/>
            <a:ext cx="26139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Sprawność ruchowa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3939" y="3178671"/>
            <a:ext cx="2613943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Sterowanie głosem (Google Assistant, Siri)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Powiększone przyciski dotykowe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Opóźnienie dotyku — mniej przypadkowych kliknięć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9832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Dostępność cyfrowa – wsparcie dla osób ze szczególnymi potrzebami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4295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Technologia może być narzędziem włączenia społecznego — pod warunkiem, że wiemy, jak dostosować ją do potrzeb konkretnej osoby. Każdy system operacyjny ma wbudowane narzędzia ułatwień dostępu.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479402"/>
            <a:ext cx="574997" cy="5749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6121" y="2479402"/>
            <a:ext cx="18838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Wzrok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26121" y="2747665"/>
            <a:ext cx="1883866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Powiększenie tekstu i ekranu (Ctrl + Plus)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Tryb </a:t>
            </a:r>
            <a:r>
              <a:rPr lang="en-US" sz="95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wysokiego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</a:t>
            </a:r>
            <a:r>
              <a:rPr lang="en-US" sz="95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kontrastu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991" y="2479402"/>
            <a:ext cx="574997" cy="5749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94993" y="2479402"/>
            <a:ext cx="18839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Słuch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4993" y="2747665"/>
            <a:ext cx="1883941" cy="147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Napisy automatyczne (YouTube, Teams, Meet)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Powiadomienia wizualne zamiast dźwiękowych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Transkrypcja rozmów w czasie rzeczywistym (Live Transcribe)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39" y="2479402"/>
            <a:ext cx="574997" cy="5749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3941" y="2479402"/>
            <a:ext cx="18839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Sprawność ruchowa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63941" y="2747665"/>
            <a:ext cx="1883941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Sterowanie głosem (Voice Control)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Klawiatura ekranowa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Mysz z trackballem lub specjalne joysticki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6286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Gdzie szukać pomocy i jak rozwijać kompetencje dalej?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6940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Nauka nigdy się nie kończy — i to dobra wiadomość! Ekosystem bezpłatnych zasobów do nauki kompetencji cyfrowych w Polsce jest coraz bogatszy.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205856"/>
            <a:ext cx="4103191" cy="2291283"/>
          </a:xfrm>
          <a:prstGeom prst="roundRect">
            <a:avLst>
              <a:gd name="adj" fmla="val 3898"/>
            </a:avLst>
          </a:prstGeom>
          <a:solidFill>
            <a:srgbClr val="F66A53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30796" y="2329830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🇵🇱</a:t>
            </a: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Zasoby w języku polskim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647652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gov.pl/cyfryzacja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– poradniki i e-usługi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akademia.nask.pl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– kursy dla seniorów i wolontariuszy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Lokalne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biblioteki – często organizują szkolenia cyfrowe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32983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Platformy edukacyjne online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647652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Coursera / edX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– kursy z certyfikatami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YouTube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– tutoriale krok po kroku po polsku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345378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2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Wsparcie lokalne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3771602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 err="1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Domy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Kultury i świetlice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Twoja organizacja wolontariacka!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519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Ćwiczenie podsumowujące – mój mini-plan wsparcia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9076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Teraz kolej na Ciebie! Zastanów się nad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konkretną osobą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, którą chcesz wspierać w rozwoju kompetencji cyfrowych. To może być sąsiad, babcia, uczestnik Twojego wolontariatu.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27212"/>
            <a:ext cx="4013895" cy="12995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28652" y="1720230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4380" y="2123331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Kogo chcę wesprzeć?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4380" y="2391594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Imię lub opis osoby. Jaki ma poziom kompetencji cyfrowych? Czego potrzebuje najbardziej w codziennym życiu?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987" y="1627212"/>
            <a:ext cx="4013895" cy="12995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66520" y="1720230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772248" y="2123331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Jaka kompetencja jest najważniejsza?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72248" y="2391594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Wybierz jeden obszar z 5: informacja, komunikacja, tworzenie treści, bezpieczeństwo lub rozwiązywanie problemów.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050753"/>
            <a:ext cx="4013895" cy="12995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28652" y="3143771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34380" y="3546872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Pierwszy konkretny krok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4380" y="3815135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zrobisz w ciągu najbliższego tygodnia? Np. "Nauczę babcię, jak video-rozmawiać przez WhatsApp z wnukami."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987" y="3050753"/>
            <a:ext cx="4013895" cy="12995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66520" y="3143771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4772248" y="3546872"/>
            <a:ext cx="37373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Jak sprawdzę efekty?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72248" y="3815135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Co będzie sygnałem, że ta osoba opanowała daną umiejętność? Jak to uczcicie razem?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496119" y="448984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Zapisz swój plan — podziel się nim z grupą lub koordynatorem. Konkretny plan to pierwszy krok do zmiany!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253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81818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Podsumowanie – klucz do cyfrowego świata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141810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Dziękujemy za udział w szkoleniu! Zebrałeś dziś kompetencje z </a:t>
            </a:r>
            <a:r>
              <a:rPr lang="en-US" sz="950" b="1" dirty="0">
                <a:solidFill>
                  <a:srgbClr val="000000"/>
                </a:solidFill>
                <a:latin typeface="Karla Bold" pitchFamily="34" charset="0"/>
                <a:ea typeface="Karla Bold" pitchFamily="34" charset="-122"/>
                <a:cs typeface="Karla Bold" pitchFamily="34" charset="-120"/>
              </a:rPr>
              <a:t>5 obszarów</a:t>
            </a: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 — teraz czas je zastosować w praktyce.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756097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24855" y="1884834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Informacja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55" y="2153096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Weryfikuj źródła, organizuj dane, korzystaj z e-usług publicznych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1756097"/>
            <a:ext cx="2634630" cy="922660"/>
          </a:xfrm>
          <a:prstGeom prst="roundRect">
            <a:avLst>
              <a:gd name="adj" fmla="val 5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383384" y="1884834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Komunikacja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384" y="2153096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Pisz skuteczne e-maile, używaj komunikatorów, pracuj w chmurze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1756097"/>
            <a:ext cx="2634555" cy="922660"/>
          </a:xfrm>
          <a:prstGeom prst="roundRect">
            <a:avLst>
              <a:gd name="adj" fmla="val 5647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141988" y="1884834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✏️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Tworzenie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1988" y="2153096"/>
            <a:ext cx="237708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Twórz dokumenty, grafikę i używaj AI z głową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2802731"/>
            <a:ext cx="4013820" cy="724198"/>
          </a:xfrm>
          <a:prstGeom prst="roundRect">
            <a:avLst>
              <a:gd name="adj" fmla="val 7194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24855" y="2931468"/>
            <a:ext cx="37563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Bezpieczeństwo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855" y="3199730"/>
            <a:ext cx="3756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Chroń dane, stosuj silne hasła, rozpoznawaj phishing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13" y="2802731"/>
            <a:ext cx="4013895" cy="724198"/>
          </a:xfrm>
          <a:prstGeom prst="roundRect">
            <a:avLst>
              <a:gd name="adj" fmla="val 7194"/>
            </a:avLst>
          </a:prstGeom>
          <a:solidFill>
            <a:srgbClr val="FCD5CF"/>
          </a:solidFill>
          <a:ln w="4763">
            <a:solidFill>
              <a:srgbClr val="E2BBB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762649" y="2931468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r>
              <a:rPr lang="en-US" sz="1200" dirty="0">
                <a:solidFill>
                  <a:srgbClr val="000000"/>
                </a:solidFill>
                <a:latin typeface="Geologica SemiBold" pitchFamily="34" charset="0"/>
                <a:ea typeface="Geologica SemiBold" pitchFamily="34" charset="-122"/>
                <a:cs typeface="Geologica SemiBold" pitchFamily="34" charset="-120"/>
              </a:rPr>
              <a:t> Problemy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2649" y="3199730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Działaj samodzielnie, wspieraj dostępność, ucz się dalej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6119" y="3666455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FCD5C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846240"/>
            <a:ext cx="155004" cy="1239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99071" y="3821385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Twój następny krok: wróć do mini-planu z poprzedniego slajdu i wyślij go koordynatorowi do końca tygodnia. Razem możemy więcej! 🚀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2966</Words>
  <Application>Microsoft Macintosh PowerPoint</Application>
  <PresentationFormat>On-screen Show (16:9)</PresentationFormat>
  <Paragraphs>364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Geologica SemiBold</vt:lpstr>
      <vt:lpstr>Twemoji Mozilla</vt:lpstr>
      <vt:lpstr>Karla</vt:lpstr>
      <vt:lpstr>Arial</vt:lpstr>
      <vt:lpstr>Geologica Light</vt:lpstr>
      <vt:lpstr>Karla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Kasper Kalfas</cp:lastModifiedBy>
  <cp:revision>2</cp:revision>
  <dcterms:created xsi:type="dcterms:W3CDTF">2026-07-24T22:37:09Z</dcterms:created>
  <dcterms:modified xsi:type="dcterms:W3CDTF">2026-07-25T06:12:57Z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dddc05-6d75-4c89-ae8a-b8ab1a1994bc_Enabled">
    <vt:lpwstr>true</vt:lpwstr>
  </property>
  <property fmtid="{D5CDD505-2E9C-101B-9397-08002B2CF9AE}" pid="3" name="MSIP_Label_6ddddc05-6d75-4c89-ae8a-b8ab1a1994bc_SetDate">
    <vt:lpwstr>2026-07-24T22:48:29Z</vt:lpwstr>
  </property>
  <property fmtid="{D5CDD505-2E9C-101B-9397-08002B2CF9AE}" pid="4" name="MSIP_Label_6ddddc05-6d75-4c89-ae8a-b8ab1a1994bc_Method">
    <vt:lpwstr>Standard</vt:lpwstr>
  </property>
  <property fmtid="{D5CDD505-2E9C-101B-9397-08002B2CF9AE}" pid="5" name="MSIP_Label_6ddddc05-6d75-4c89-ae8a-b8ab1a1994bc_Name">
    <vt:lpwstr>without watermark</vt:lpwstr>
  </property>
  <property fmtid="{D5CDD505-2E9C-101B-9397-08002B2CF9AE}" pid="6" name="MSIP_Label_6ddddc05-6d75-4c89-ae8a-b8ab1a1994bc_SiteId">
    <vt:lpwstr>ff9ac3ce-3c41-41c3-b556-e1b32a662fed</vt:lpwstr>
  </property>
  <property fmtid="{D5CDD505-2E9C-101B-9397-08002B2CF9AE}" pid="7" name="MSIP_Label_6ddddc05-6d75-4c89-ae8a-b8ab1a1994bc_ActionId">
    <vt:lpwstr>9a3b7f17-d270-465e-a943-5fa1228d7b35</vt:lpwstr>
  </property>
  <property fmtid="{D5CDD505-2E9C-101B-9397-08002B2CF9AE}" pid="8" name="MSIP_Label_6ddddc05-6d75-4c89-ae8a-b8ab1a1994bc_ContentBits">
    <vt:lpwstr>0</vt:lpwstr>
  </property>
  <property fmtid="{D5CDD505-2E9C-101B-9397-08002B2CF9AE}" pid="9" name="MSIP_Label_6ddddc05-6d75-4c89-ae8a-b8ab1a1994bc_Tag">
    <vt:lpwstr>50, 3, 0, 1</vt:lpwstr>
  </property>
</Properties>
</file>